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40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24C379-B777-4F85-8B3D-3642E5850AD9}" v="1" dt="2025-11-12T16:09:52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mena Silva" userId="5f15395a9ed9a48f" providerId="LiveId" clId="{A1A69B6A-B6E8-475B-B39A-A7D0D0DD385B}"/>
    <pc:docChg chg="undo custSel addSld delSld modSld sldOrd">
      <pc:chgData name="Ximena Silva" userId="5f15395a9ed9a48f" providerId="LiveId" clId="{A1A69B6A-B6E8-475B-B39A-A7D0D0DD385B}" dt="2025-11-12T16:12:56.620" v="98" actId="47"/>
      <pc:docMkLst>
        <pc:docMk/>
      </pc:docMkLst>
      <pc:sldChg chg="addSp delSp modSp del mod">
        <pc:chgData name="Ximena Silva" userId="5f15395a9ed9a48f" providerId="LiveId" clId="{A1A69B6A-B6E8-475B-B39A-A7D0D0DD385B}" dt="2025-11-12T16:12:56.620" v="98" actId="47"/>
        <pc:sldMkLst>
          <pc:docMk/>
          <pc:sldMk cId="0" sldId="256"/>
        </pc:sldMkLst>
        <pc:spChg chg="del">
          <ac:chgData name="Ximena Silva" userId="5f15395a9ed9a48f" providerId="LiveId" clId="{A1A69B6A-B6E8-475B-B39A-A7D0D0DD385B}" dt="2025-11-12T16:04:02.469" v="0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Ximena Silva" userId="5f15395a9ed9a48f" providerId="LiveId" clId="{A1A69B6A-B6E8-475B-B39A-A7D0D0DD385B}" dt="2025-11-12T16:04:06.210" v="2" actId="20577"/>
          <ac:spMkLst>
            <pc:docMk/>
            <pc:sldMk cId="0" sldId="256"/>
            <ac:spMk id="5" creationId="{00000000-0000-0000-0000-000000000000}"/>
          </ac:spMkLst>
        </pc:spChg>
        <pc:spChg chg="add del">
          <ac:chgData name="Ximena Silva" userId="5f15395a9ed9a48f" providerId="LiveId" clId="{A1A69B6A-B6E8-475B-B39A-A7D0D0DD385B}" dt="2025-11-12T16:09:48.410" v="4" actId="22"/>
          <ac:spMkLst>
            <pc:docMk/>
            <pc:sldMk cId="0" sldId="256"/>
            <ac:spMk id="7" creationId="{47DEFEA3-5E14-DD82-7EC8-67F06971229C}"/>
          </ac:spMkLst>
        </pc:spChg>
      </pc:sldChg>
      <pc:sldChg chg="addSp delSp modSp add mod ord">
        <pc:chgData name="Ximena Silva" userId="5f15395a9ed9a48f" providerId="LiveId" clId="{A1A69B6A-B6E8-475B-B39A-A7D0D0DD385B}" dt="2025-11-12T16:12:52.214" v="97" actId="404"/>
        <pc:sldMkLst>
          <pc:docMk/>
          <pc:sldMk cId="1397344631" sldId="405"/>
        </pc:sldMkLst>
        <pc:spChg chg="del">
          <ac:chgData name="Ximena Silva" userId="5f15395a9ed9a48f" providerId="LiveId" clId="{A1A69B6A-B6E8-475B-B39A-A7D0D0DD385B}" dt="2025-11-12T16:09:57.524" v="8" actId="478"/>
          <ac:spMkLst>
            <pc:docMk/>
            <pc:sldMk cId="1397344631" sldId="405"/>
            <ac:spMk id="2" creationId="{FF33BA24-1EB3-99A2-CC3F-FF5AE6598D2B}"/>
          </ac:spMkLst>
        </pc:spChg>
        <pc:spChg chg="mod">
          <ac:chgData name="Ximena Silva" userId="5f15395a9ed9a48f" providerId="LiveId" clId="{A1A69B6A-B6E8-475B-B39A-A7D0D0DD385B}" dt="2025-11-12T16:11:03.408" v="72" actId="14100"/>
          <ac:spMkLst>
            <pc:docMk/>
            <pc:sldMk cId="1397344631" sldId="405"/>
            <ac:spMk id="4" creationId="{55C6C1DE-B6C1-999A-B801-56C24ACE1C8E}"/>
          </ac:spMkLst>
        </pc:spChg>
        <pc:spChg chg="add mod">
          <ac:chgData name="Ximena Silva" userId="5f15395a9ed9a48f" providerId="LiveId" clId="{A1A69B6A-B6E8-475B-B39A-A7D0D0DD385B}" dt="2025-11-12T16:12:52.214" v="97" actId="404"/>
          <ac:spMkLst>
            <pc:docMk/>
            <pc:sldMk cId="1397344631" sldId="405"/>
            <ac:spMk id="5" creationId="{AB39384A-FEA1-79C6-F020-6520EBFB35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5602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07CAE521-C03A-799B-0D20-687F870E33A9}"/>
              </a:ext>
            </a:extLst>
          </p:cNvPr>
          <p:cNvSpPr/>
          <p:nvPr userDrawn="1"/>
        </p:nvSpPr>
        <p:spPr>
          <a:xfrm>
            <a:off x="-7454" y="-33130"/>
            <a:ext cx="9144000" cy="5176630"/>
          </a:xfrm>
          <a:prstGeom prst="rect">
            <a:avLst/>
          </a:prstGeom>
          <a:solidFill>
            <a:srgbClr val="0019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EABD7A-2025-3203-1869-9B793A6269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505521"/>
            <a:ext cx="6858000" cy="1126951"/>
          </a:xfrm>
        </p:spPr>
        <p:txBody>
          <a:bodyPr anchor="b">
            <a:normAutofit/>
          </a:bodyPr>
          <a:lstStyle>
            <a:lvl1pPr algn="l">
              <a:defRPr sz="4950">
                <a:solidFill>
                  <a:srgbClr val="0070C0"/>
                </a:solidFill>
              </a:defRPr>
            </a:lvl1pPr>
          </a:lstStyle>
          <a:p>
            <a:r>
              <a:rPr lang="es-MX" sz="4500">
                <a:solidFill>
                  <a:srgbClr val="00B0F0"/>
                </a:solidFill>
                <a:latin typeface="Teko"/>
              </a:rPr>
              <a:t>TEMPLATES POLI</a:t>
            </a:r>
            <a:endParaRPr lang="es-CO" sz="4500">
              <a:solidFill>
                <a:srgbClr val="00B0F0"/>
              </a:solidFill>
              <a:latin typeface="Teko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E30AC1CD-20B6-4439-7DD6-0A8954983F83}"/>
              </a:ext>
            </a:extLst>
          </p:cNvPr>
          <p:cNvSpPr txBox="1">
            <a:spLocks/>
          </p:cNvSpPr>
          <p:nvPr userDrawn="1"/>
        </p:nvSpPr>
        <p:spPr>
          <a:xfrm>
            <a:off x="1135546" y="2197560"/>
            <a:ext cx="6858000" cy="112695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O" sz="3300">
              <a:solidFill>
                <a:schemeClr val="bg1"/>
              </a:solidFill>
              <a:latin typeface="Teko"/>
            </a:endParaRPr>
          </a:p>
        </p:txBody>
      </p:sp>
      <p:pic>
        <p:nvPicPr>
          <p:cNvPr id="15" name="Imagen" descr="Imagen">
            <a:extLst>
              <a:ext uri="{FF2B5EF4-FFF2-40B4-BE49-F238E27FC236}">
                <a16:creationId xmlns:a16="http://schemas.microsoft.com/office/drawing/2014/main" id="{7B42AF48-45D8-AABD-DDAF-0F56052977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1376" y="310661"/>
            <a:ext cx="1618738" cy="9161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Imagen" descr="Imagen">
            <a:extLst>
              <a:ext uri="{FF2B5EF4-FFF2-40B4-BE49-F238E27FC236}">
                <a16:creationId xmlns:a16="http://schemas.microsoft.com/office/drawing/2014/main" id="{406B248A-BCAC-B76E-6492-081AB4BB009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6200000">
            <a:off x="6258042" y="2256246"/>
            <a:ext cx="1357052" cy="4414865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4E6FBE92-44BA-3E23-59B6-9026913E80EC}"/>
              </a:ext>
            </a:extLst>
          </p:cNvPr>
          <p:cNvSpPr txBox="1">
            <a:spLocks/>
          </p:cNvSpPr>
          <p:nvPr userDrawn="1"/>
        </p:nvSpPr>
        <p:spPr>
          <a:xfrm>
            <a:off x="1143000" y="2613930"/>
            <a:ext cx="4164496" cy="474152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3300">
                <a:solidFill>
                  <a:schemeClr val="bg1"/>
                </a:solidFill>
                <a:latin typeface="Teko"/>
              </a:rPr>
              <a:t>CAMPAÑA 2024</a:t>
            </a:r>
            <a:endParaRPr lang="es-CO" sz="3300">
              <a:solidFill>
                <a:schemeClr val="bg1"/>
              </a:solidFill>
              <a:latin typeface="Teko"/>
            </a:endParaRPr>
          </a:p>
        </p:txBody>
      </p:sp>
    </p:spTree>
    <p:extLst>
      <p:ext uri="{BB962C8B-B14F-4D97-AF65-F5344CB8AC3E}">
        <p14:creationId xmlns:p14="http://schemas.microsoft.com/office/powerpoint/2010/main" val="3891030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superiores, una redondeada y la otra cortada 3">
            <a:extLst>
              <a:ext uri="{FF2B5EF4-FFF2-40B4-BE49-F238E27FC236}">
                <a16:creationId xmlns:a16="http://schemas.microsoft.com/office/drawing/2014/main" id="{55C6C1DE-B6C1-999A-B801-56C24ACE1C8E}"/>
              </a:ext>
            </a:extLst>
          </p:cNvPr>
          <p:cNvSpPr/>
          <p:nvPr/>
        </p:nvSpPr>
        <p:spPr>
          <a:xfrm>
            <a:off x="1100710" y="2430585"/>
            <a:ext cx="3221197" cy="1067859"/>
          </a:xfrm>
          <a:prstGeom prst="snipRoundRect">
            <a:avLst/>
          </a:prstGeom>
          <a:solidFill>
            <a:srgbClr val="0019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sz="135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B39384A-FEA1-79C6-F020-6520EBFB35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83" y="1842918"/>
            <a:ext cx="8274539" cy="1126951"/>
          </a:xfrm>
        </p:spPr>
        <p:txBody>
          <a:bodyPr>
            <a:normAutofit fontScale="90000"/>
          </a:bodyPr>
          <a:lstStyle/>
          <a:p>
            <a:pPr algn="ctr"/>
            <a:r>
              <a:rPr lang="es-419" dirty="0"/>
              <a:t>Modelos de Pronostico</a:t>
            </a:r>
            <a:br>
              <a:rPr lang="es-419" dirty="0"/>
            </a:br>
            <a:r>
              <a:rPr lang="es-419" sz="40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Indicadores Estratégicos 2026-2030</a:t>
            </a:r>
            <a:endParaRPr lang="es-419" sz="53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7344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Clasificación de Modelos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1. Modelos de Regresión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Regresión Lineal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Polinomial Grado 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Polinomial Grado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2. Series Temporales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93776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ARIMA/SARIMAX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Suavizado Exponencial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Media Móvil Tendencia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3. Machine Learning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Random Forest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Gradient Boosting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4. Otros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32004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Proyección CAGR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• Ensemble Promedio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Regresión Lineal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Modelo estadístico básico que ajusta una línea recta a los datos históricos. Asume una relación lineal entre el tiempo y la variable objetivo.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Indicadores con tendencias simples y estables. Ideal para crecimientos/decrementos constantes sin aceleraciones.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X: tiempo (n_obs)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y: valores históricos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Baseline_growth: tasa de crecimiento base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Fit: sklearn.linear_model.LinearRegression()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Regresión Polinomial Grado 2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Captura relaciones cuadráticas (parábolas) en los datos. Permite modelar aceleraciones o desaceleraciones en el crecimiento.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Crecimientos acelerados o desacelerados. Patrones con un punto de inflexión (máximo o mínimo).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PolynomialFeatures(degree=2)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Ridge(alpha=5.0) - regularización L2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StandardScaler() - normalización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Pipeline: poli → escalar → ridge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Regresión Polinomial Grado 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Captura relaciones cúbicas más complejas. Permite hasta 2 puntos de inflexión en la curva.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Patrones con múltiples inflexiones. Crecimientos en forma de S o con cambios de dirección.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PolynomialFeatures(degree=3)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Ridge(alpha=10.0) - mayor regularización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StandardScaler()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Mayor riesgo de overfitting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Random Forest Regressor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Ensemble de múltiples árboles de decisión. Cada árbol se entrena con una muestra aleatoria y vota la predicción final.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Relaciones no lineales complejas. Robusto ante outliers. Captura interacciones entre variables.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n_estimators=100 (100 árboles)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max_depth=5 (profundidad máxima)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min_samples_split=2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random_state=42 (reproducibilidad)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Gradient Boosting Regressor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Árboles secuenciales donde cada uno corrige los errores del anterior. Construcción iterativa del modelo.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Alta precisión en patrones complejos. Mejor performance que Random Forest en muchos casos.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n_estimators=100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max_depth=3 (árboles más simples)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learning_rate=0.1 (tasa de aprendizaje)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random_state=42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ARIMA / SARIMAX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Auto-Regressive Integrated Moving Average. Modelo clásico de series temporales con componentes AR, I, MA.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Series con tendencias y estacionalidad. Captura autocorrelaciones en los datos.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order=(p, d, q) - AR, I, MA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seasonal_order para SARIMAX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Auto-selección con pmdarima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Fallback: SARIMAX(1,1,1)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Suavizado Exponencial (Holt)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Promedio ponderado exponencialmente que da más peso a observaciones recientes. Método Holt con tendencia aditiva.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Tendencias suaves sin estacionalidad. Suaviza ruido manteniendo la tendencia.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trend='add' (tendencia aditiva)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seasonal=None (sin estacionalidad)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optimized=True (auto-optimización)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alpha: peso reciente (auto-calculado)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Proyección CAGR Suavizado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Tasa de Crecimiento Anual Compuesta suavizada. Combina CAGR histórico (60%) y reciente (40%).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Proyecciones conservadoras. Estabiliza volatilidad. Respeta el Sentido del indicador.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baseline_growth: tasa suavizada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CAGR_total: crecimiento histórico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CAGR_recent: últimos 3 periodos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Validación por Sentido (Pos/Neg)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Media Móvil con Tendencia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Promedio móvil de ventana deslizante más ajuste de tendencia lineal basado en diferencias recientes.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Uso Principal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Suavizar ruido y capturar tendencia. Simple y robusto para indicadores estables.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Parámetros Clave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window=3 (ventana de 3 periodos)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min_periods=1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trend: mean(diff(últimos 3))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Proyección: rolling_mean + trend×i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833"/>
                </a:solidFill>
              </a:rPr>
              <a:t>Modelo Ensemble Promedio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3"/>
                </a:solidFill>
              </a:rPr>
              <a:t>Definición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6D7E"/>
                </a:solidFill>
              </a:rPr>
              <a:t>Promedio de las proyecciones de todos los modelos individuales disponibles. Reduce varianza y mejora estabilidad.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3"/>
                </a:solidFill>
              </a:rPr>
              <a:t>Cálculo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Ensemble = mean([Lineal, Poly2, Poly3, RF, GB, Exp, ARIMA, CAGR, MA])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4053"/>
                </a:solidFill>
              </a:rPr>
              <a:t>Ventajas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749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</a:rPr>
              <a:t>• Reduce overfitting de modelos individuales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</a:rPr>
              <a:t>• Mayor robustez ante cambios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</a:rPr>
              <a:t>• Mejor generalización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C2833"/>
                </a:solidFill>
              </a:rPr>
              <a:t>Parámetros Principales del Código</a:t>
            </a:r>
            <a:endParaRPr lang="en-US" sz="3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338328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Parámetro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Valor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Descripción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FUTURE_PERIODS_SEM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Periodos proyectar (semestral)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FUTURE_PERIODS_ANUAL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Periodos proyectar (anual)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MIN_OBS_COMPLETO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Mínimo para 9 modelos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MIN_OBS_MEDIO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Mínimo para 5 modelos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MIN_OBS_MINIMO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Mínimo para 1 modelo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MAX_GROWTH_DEFAULT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0.15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Crecimiento máximo 15%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MAX_GROWTH_PERCENTAGE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0.10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Crec. máx porcentajes 10%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PESO_TEND_HISTORICA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0.60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Peso tendencia histórica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PESO_TEND_RECIENTE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0.40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Peso tendencia reciente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75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Z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1.96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833"/>
                          </a:solidFill>
                        </a:rPr>
                        <a:t>Nivel confianza 95%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C2833"/>
                </a:solidFill>
              </a:rPr>
              <a:t>Criterios de Selección del Mejor Modelo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39C12"/>
                </a:solidFill>
              </a:rPr>
              <a:t>Score Multivariado (menor = mejor)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0.18×MAPE + 0.13×RMSE + 0.10×(1-R²) + 0.10×|Bias| + 0.09×Stability + 0.15×Penal_Plausibilidad + 0.15×Penal_Crecimientos + 0.10×Penal_100%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2833"/>
                </a:solidFill>
              </a:rPr>
              <a:t>Interpretación: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7132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&lt; 0.20    → Excelente modelo ⭐⭐⭐⭐⭐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0.20-0.40 → Buen modelo ⭐⭐⭐⭐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0.40-0.60 → Modelo aceptable ⭐⭐⭐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D6D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&gt; 0.60    → Modelo deficiente ⭐⭐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Resumen Ejecutivo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657600" cy="12801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9 Modelos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3 Regresión + 3 Series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2 ML + 1 CAGR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65760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7" name="Text 5"/>
          <p:cNvSpPr/>
          <p:nvPr/>
        </p:nvSpPr>
        <p:spPr>
          <a:xfrm>
            <a:off x="493776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 Ensemble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Promedio de todos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Mejor estabilidad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657600" cy="12801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Score Multivariado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1440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8 componentes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Selección automática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657600" cy="1280160"/>
          </a:xfrm>
          <a:prstGeom prst="rect">
            <a:avLst/>
          </a:prstGeom>
          <a:solidFill>
            <a:srgbClr val="2E405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419"/>
          </a:p>
        </p:txBody>
      </p:sp>
      <p:sp>
        <p:nvSpPr>
          <p:cNvPr id="13" name="Text 11"/>
          <p:cNvSpPr/>
          <p:nvPr/>
        </p:nvSpPr>
        <p:spPr>
          <a:xfrm>
            <a:off x="4937760" y="3108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1,584 Líneas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3776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Código Python completo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13 ajustes específicos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1013</Words>
  <Application>Microsoft Office PowerPoint</Application>
  <PresentationFormat>Presentación en pantalla (16:9)</PresentationFormat>
  <Paragraphs>184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Teko</vt:lpstr>
      <vt:lpstr>Office Theme</vt:lpstr>
      <vt:lpstr>Modelos de Pronostico Indicadores Estratégicos 2026-2030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Modelos de Pronóstico - Tipos y Parámetros</dc:title>
  <dc:subject>PptxGenJS Presentation</dc:subject>
  <dc:creator>Sistema de Pronóstico v7.1</dc:creator>
  <cp:lastModifiedBy>Ximena Silva</cp:lastModifiedBy>
  <cp:revision>1</cp:revision>
  <dcterms:created xsi:type="dcterms:W3CDTF">2025-11-10T20:58:03Z</dcterms:created>
  <dcterms:modified xsi:type="dcterms:W3CDTF">2025-11-12T16:12:58Z</dcterms:modified>
</cp:coreProperties>
</file>