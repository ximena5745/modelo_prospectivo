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Pronóstico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Multivariable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3200400" y="7315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39C12"/>
                </a:solidFill>
              </a:rPr>
              <a:t>v7.1 Definitivo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CF0F1"/>
                </a:solidFill>
              </a:rPr>
              <a:t>Tipos, Definiciones y Parámetros Principales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383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5A5A6"/>
                </a:solidFill>
              </a:rPr>
              <a:t>Análisis de 9 modelos estadísticos y Machine Learning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5A5A6"/>
                </a:solidFill>
              </a:rPr>
              <a:t>Noviembre 2025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833"/>
                </a:solidFill>
              </a:rPr>
              <a:t>Clasificación de Modelos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1. Modelos de Regresión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• Regresión Lineal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• Polinomial Grado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• Polinomial Grado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75488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2. Series Temporales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937760" y="173736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• ARIMA/SARIMAX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• Suavizado Exponencial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• Media Móvil Tendencia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3. Machine Learning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• Random Forest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• Gradient Boosting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4. Otros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320040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• Proyección CAGR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• Ensemble Promedio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833"/>
                </a:solidFill>
              </a:rPr>
              <a:t>Regresión Lineal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383280"/>
          </a:xfrm>
          <a:prstGeom prst="rect">
            <a:avLst/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Definición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Modelo estadístico básico que ajusta una línea recta a los datos históricos. Asume una relación lineal entre el tiempo y la variable objetivo.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Uso Principal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Indicadores con tendencias simples y estables. Ideal para crecimientos/decrementos constantes sin aceleraciones.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Parámetros Clave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X: tiempo (n_obs)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y: valores históricos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Baseline_growth: tasa de crecimiento base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Fit: sklearn.linear_model.LinearRegression()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833"/>
                </a:solidFill>
              </a:rPr>
              <a:t>Regresión Polinomial Grado 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383280"/>
          </a:xfrm>
          <a:prstGeom prst="rect">
            <a:avLst/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Definición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Captura relaciones cuadráticas (parábolas) en los datos. Permite modelar aceleraciones o desaceleraciones en el crecimiento.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Uso Principal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Crecimientos acelerados o desacelerados. Patrones con un punto de inflexión (máximo o mínimo).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Parámetros Clave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PolynomialFeatures(degree=2)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Ridge(alpha=5.0) - regularización L2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StandardScaler() - normalización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Pipeline: poli → escalar → ridge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833"/>
                </a:solidFill>
              </a:rPr>
              <a:t>Regresión Polinomial Grado 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383280"/>
          </a:xfrm>
          <a:prstGeom prst="rect">
            <a:avLst/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Definición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Captura relaciones cúbicas más complejas. Permite hasta 2 puntos de inflexión en la curva.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Uso Principal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Patrones con múltiples inflexiones. Crecimientos en forma de S o con cambios de dirección.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Parámetros Clave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PolynomialFeatures(degree=3)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Ridge(alpha=10.0) - mayor regularización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StandardScaler()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Mayor riesgo de overfitting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833"/>
                </a:solidFill>
              </a:rPr>
              <a:t>Random Forest Regressor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383280"/>
          </a:xfrm>
          <a:prstGeom prst="rect">
            <a:avLst/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4C3C"/>
                </a:solidFill>
              </a:rPr>
              <a:t>Definición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Ensemble de múltiples árboles de decisión. Cada árbol se entrena con una muestra aleatoria y vota la predicción final.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4C3C"/>
                </a:solidFill>
              </a:rPr>
              <a:t>Uso Principal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Relaciones no lineales complejas. Robusto ante outliers. Captura interacciones entre variables.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4C3C"/>
                </a:solidFill>
              </a:rPr>
              <a:t>Parámetros Clave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n_estimators=100 (100 árboles)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max_depth=5 (profundidad máxima)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min_samples_split=2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random_state=42 (reproducibilidad)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833"/>
                </a:solidFill>
              </a:rPr>
              <a:t>Gradient Boosting Regressor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383280"/>
          </a:xfrm>
          <a:prstGeom prst="rect">
            <a:avLst/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4C3C"/>
                </a:solidFill>
              </a:rPr>
              <a:t>Definición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Árboles secuenciales donde cada uno corrige los errores del anterior. Construcción iterativa del modelo.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4C3C"/>
                </a:solidFill>
              </a:rPr>
              <a:t>Uso Principal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Alta precisión en patrones complejos. Mejor performance que Random Forest en muchos casos.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4C3C"/>
                </a:solidFill>
              </a:rPr>
              <a:t>Parámetros Clave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n_estimators=100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max_depth=3 (árboles más simples)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learning_rate=0.1 (tasa de aprendizaje)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random_state=42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833"/>
                </a:solidFill>
              </a:rPr>
              <a:t>ARIMA / SARIMAX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383280"/>
          </a:xfrm>
          <a:prstGeom prst="rect">
            <a:avLst/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Definición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Auto-Regressive Integrated Moving Average. Modelo clásico de series temporales con componentes AR, I, MA.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Uso Principal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Series con tendencias y estacionalidad. Captura autocorrelaciones en los datos.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Parámetros Clave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order=(p, d, q) - AR, I, MA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seasonal_order para SARIMAX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Auto-selección con pmdarima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Fallback: SARIMAX(1,1,1)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833"/>
                </a:solidFill>
              </a:rPr>
              <a:t>Suavizado Exponencial (Holt)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383280"/>
          </a:xfrm>
          <a:prstGeom prst="rect">
            <a:avLst/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Definición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Promedio ponderado exponencialmente que da más peso a observaciones recientes. Método Holt con tendencia aditiva.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Uso Principal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Tendencias suaves sin estacionalidad. Suaviza ruido manteniendo la tendencia.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Parámetros Clave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trend='add' (tendencia aditiva)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seasonal=None (sin estacionalidad)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optimized=True (auto-optimización)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alpha: peso reciente (auto-calculado)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833"/>
                </a:solidFill>
              </a:rPr>
              <a:t>Proyección CAGR Suavizado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383280"/>
          </a:xfrm>
          <a:prstGeom prst="rect">
            <a:avLst/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Definición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Tasa de Crecimiento Anual Compuesta suavizada. Combina CAGR histórico (60%) y reciente (40%).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Uso Principal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Proyecciones conservadoras. Estabiliza volatilidad. Respeta el Sentido del indicador.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Parámetros Clave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baseline_growth: tasa suavizada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CAGR_total: crecimiento histórico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CAGR_recent: últimos 3 periodos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Validación por Sentido (Pos/Neg)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833"/>
                </a:solidFill>
              </a:rPr>
              <a:t>Media Móvil con Tendencia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383280"/>
          </a:xfrm>
          <a:prstGeom prst="rect">
            <a:avLst/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Definición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Promedio móvil de ventana deslizante más ajuste de tendencia lineal basado en diferencias recientes.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Uso Principal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Suavizar ruido y capturar tendencia. Simple y robusto para indicadores estables.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Parámetros Clave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window=3 (ventana de 3 periodos)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min_periods=1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trend: mean(diff(últimos 3))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Proyección: rolling_mean + trend×i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833"/>
                </a:solidFill>
              </a:rPr>
              <a:t>Modelo Ensemble Promedio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383280"/>
          </a:xfrm>
          <a:prstGeom prst="rect">
            <a:avLst/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053"/>
                </a:solidFill>
              </a:rPr>
              <a:t>Definición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</a:rPr>
              <a:t>Promedio de las proyecciones de todos los modelos individuales disponibles. Reduce varianza y mejora estabilidad.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053"/>
                </a:solidFill>
              </a:rPr>
              <a:t>Cálculo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27432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4C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Ensemble = mean([Lineal, Poly2, Poly3, RF, GB, Exp, ARIMA, CAGR, MA])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053"/>
                </a:solidFill>
              </a:rPr>
              <a:t>Ventajas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74904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</a:rPr>
              <a:t>• Reduce overfitting de modelos individuales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</a:rPr>
              <a:t>• Mayor robustez ante cambios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</a:rPr>
              <a:t>• Mejor generalización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C2833"/>
                </a:solidFill>
              </a:rPr>
              <a:t>Parámetros Principales del Código</a:t>
            </a:r>
            <a:endParaRPr lang="en-US" sz="3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7863840" cy="338328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3291840"/>
              </a:tblGrid>
              <a:tr h="307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Parámetro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Valor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Descripción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FUTURE_PERIODS_SEM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Periodos proyectar (semestral)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FUTURE_PERIODS_ANUAL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Periodos proyectar (anual)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MIN_OBS_COMPLETO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Mínimo para 9 modelos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MIN_OBS_MEDIO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Mínimo para 5 modelos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MIN_OBS_MINIMO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Mínimo para 1 modelo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MAX_GROWTH_DEFAULT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0.15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Crecimiento máximo 15%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MAX_GROWTH_PERCENTAGE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0.10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Crec. máx porcentajes 10%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PESO_TEND_HISTORICA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Peso tendencia histórica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PESO_TEND_RECIENTE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Peso tendencia reciente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Z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1.96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833"/>
                          </a:solidFill>
                        </a:rPr>
                        <a:t>Nivel confianza 95%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833"/>
                </a:solidFill>
              </a:rPr>
              <a:t>Criterios de Selección del Mejor Modelo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7863840" cy="3474720"/>
          </a:xfrm>
          <a:prstGeom prst="rect">
            <a:avLst/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801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9C12"/>
                </a:solidFill>
              </a:rPr>
              <a:t>Score Multivariado (menor = mejor)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0.18×MAPE + 0.13×RMSE + 0.10×(1-R²) + 0.10×|Bias| + 0.09×Stability + 0.15×Penal_Plausibilidad + 0.15×Penal_Crecimientos + 0.10×Penal_100%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833"/>
                </a:solidFill>
              </a:rPr>
              <a:t>Interpretación: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7132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&lt; 0.20    → Excelente modelo ⭐⭐⭐⭐⭐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0.20-0.40 → Buen modelo ⭐⭐⭐⭐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0.40-0.60 → Modelo aceptable ⭐⭐⭐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&gt; 0.60    → Modelo deficiente ⭐⭐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Resumen Ejecutivo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3657600" cy="1280160"/>
          </a:xfrm>
          <a:prstGeom prst="rect">
            <a:avLst/>
          </a:prstGeom>
          <a:solidFill>
            <a:srgbClr val="F39C1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459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9 Modelos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3 Regresión + 3 Series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2 ML + 1 CAGR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463040"/>
            <a:ext cx="3657600" cy="1280160"/>
          </a:xfrm>
          <a:prstGeom prst="rect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6459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 Ensemble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937760" y="21031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Promedio de todos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Mejor estabilidad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926080"/>
            <a:ext cx="3657600" cy="1280160"/>
          </a:xfrm>
          <a:prstGeom prst="rect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08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Score Multivariado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35661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8 componentes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Selección automática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657600" cy="1280160"/>
          </a:xfrm>
          <a:prstGeom prst="rect">
            <a:avLst/>
          </a:prstGeom>
          <a:solidFill>
            <a:srgbClr val="2E40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3108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1,584 Líneas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937760" y="35661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Código Python completo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13 ajustes específicos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Modelos de Pronóstico - Tipos y Parámetros</dc:title>
  <dc:subject>PptxGenJS Presentation</dc:subject>
  <dc:creator>Sistema de Pronóstico v7.1</dc:creator>
  <cp:lastModifiedBy>Sistema de Pronóstico v7.1</cp:lastModifiedBy>
  <cp:revision>1</cp:revision>
  <dcterms:created xsi:type="dcterms:W3CDTF">2025-11-10T20:58:03Z</dcterms:created>
  <dcterms:modified xsi:type="dcterms:W3CDTF">2025-11-10T20:58:03Z</dcterms:modified>
</cp:coreProperties>
</file>