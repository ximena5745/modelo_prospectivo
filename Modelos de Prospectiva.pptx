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147377456" r:id="rId3"/>
    <p:sldId id="2147482925" r:id="rId4"/>
    <p:sldId id="2147482927" r:id="rId5"/>
    <p:sldId id="2147482928" r:id="rId6"/>
    <p:sldId id="214748292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17CDA-870E-16B9-5FA4-21F46F6D80BC}" name="Arias Albino, Laura Vanessa (BOG-MLM)" initials="" userId="S::laura.arias@mullenlowessp3.com::14b45847-d209-4b55-abfb-55a615974c9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6" d="100"/>
          <a:sy n="86" d="100"/>
        </p:scale>
        <p:origin x="533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and white circle&#10;&#10;AI-generated content may be incorrect." hidden="1">
            <a:extLst>
              <a:ext uri="{FF2B5EF4-FFF2-40B4-BE49-F238E27FC236}">
                <a16:creationId xmlns:a16="http://schemas.microsoft.com/office/drawing/2014/main" id="{29C68D01-CA17-F82C-A353-1B4CABE63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53A35199-B436-9C42-5209-A5A288CC67C5}"/>
              </a:ext>
            </a:extLst>
          </p:cNvPr>
          <p:cNvSpPr txBox="1">
            <a:spLocks/>
          </p:cNvSpPr>
          <p:nvPr/>
        </p:nvSpPr>
        <p:spPr>
          <a:xfrm>
            <a:off x="3683039" y="4801773"/>
            <a:ext cx="6177432" cy="58850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defPPr>
              <a:defRPr lang="es-CO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rgbClr val="0F375A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algn="ctr">
              <a:defRPr/>
            </a:pPr>
            <a:r>
              <a:rPr lang="es-MX" sz="4400" dirty="0">
                <a:solidFill>
                  <a:prstClr val="white"/>
                </a:solidFill>
                <a:latin typeface="Teko"/>
              </a:rPr>
              <a:t>Indicadores Estratégicos 2026-2030</a:t>
            </a:r>
            <a:endParaRPr lang="en-US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1B54AFC0-F33A-D4F6-AF52-F51DD443E8D5}"/>
              </a:ext>
            </a:extLst>
          </p:cNvPr>
          <p:cNvSpPr txBox="1">
            <a:spLocks/>
          </p:cNvSpPr>
          <p:nvPr/>
        </p:nvSpPr>
        <p:spPr>
          <a:xfrm>
            <a:off x="2960915" y="3240953"/>
            <a:ext cx="9666514" cy="58850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defPPr>
              <a:defRPr lang="es-CO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rgbClr val="0F375A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>
              <a:lnSpc>
                <a:spcPct val="100000"/>
              </a:lnSpc>
              <a:defRPr/>
            </a:pPr>
            <a:r>
              <a:rPr lang="es-MX" sz="6600" dirty="0">
                <a:solidFill>
                  <a:srgbClr val="00B0F0"/>
                </a:solidFill>
                <a:latin typeface="Teko"/>
              </a:rPr>
              <a:t>Modelos de Pronostico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556681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65AB20-B552-AC0B-0839-C24B9C2EF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ue curved line on a white background&#10;&#10;AI-generated content may be incorrect." hidden="1">
            <a:extLst>
              <a:ext uri="{FF2B5EF4-FFF2-40B4-BE49-F238E27FC236}">
                <a16:creationId xmlns:a16="http://schemas.microsoft.com/office/drawing/2014/main" id="{4E183467-27A3-A1D1-B222-C4F2BFE55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E055F1FF-3420-8812-4215-327934F60932}"/>
              </a:ext>
            </a:extLst>
          </p:cNvPr>
          <p:cNvSpPr/>
          <p:nvPr/>
        </p:nvSpPr>
        <p:spPr>
          <a:xfrm>
            <a:off x="3864429" y="1654628"/>
            <a:ext cx="8229600" cy="64008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spAutoFit/>
          </a:bodyPr>
          <a:lstStyle/>
          <a:p>
            <a:r>
              <a:rPr lang="en-US" sz="5000" b="1" dirty="0">
                <a:solidFill>
                  <a:srgbClr val="00A9D9"/>
                </a:solidFill>
                <a:latin typeface="Teko Light"/>
              </a:rPr>
              <a:t>Clasificación de Modelos</a:t>
            </a: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015BC91-AA52-4F02-7896-C13104463196}"/>
              </a:ext>
            </a:extLst>
          </p:cNvPr>
          <p:cNvSpPr/>
          <p:nvPr/>
        </p:nvSpPr>
        <p:spPr>
          <a:xfrm>
            <a:off x="3742509" y="26604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b="1" dirty="0">
                <a:solidFill>
                  <a:srgbClr val="002060"/>
                </a:solidFill>
              </a:rPr>
              <a:t>1. Modelos de Regresión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9DF2BBC2-5555-EAF9-2FA0-4789AFA4F7F2}"/>
              </a:ext>
            </a:extLst>
          </p:cNvPr>
          <p:cNvSpPr/>
          <p:nvPr/>
        </p:nvSpPr>
        <p:spPr>
          <a:xfrm>
            <a:off x="3925389" y="311766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dirty="0"/>
              <a:t>• </a:t>
            </a:r>
            <a:r>
              <a:rPr dirty="0" err="1"/>
              <a:t>Regresión</a:t>
            </a:r>
            <a:r>
              <a:rPr dirty="0"/>
              <a:t> Lineal</a:t>
            </a:r>
          </a:p>
          <a:p>
            <a:pPr>
              <a:defRPr/>
            </a:pPr>
            <a:r>
              <a:rPr dirty="0"/>
              <a:t>• </a:t>
            </a:r>
            <a:r>
              <a:rPr dirty="0" err="1"/>
              <a:t>Polinomial</a:t>
            </a:r>
            <a:r>
              <a:rPr dirty="0"/>
              <a:t> Grado 2</a:t>
            </a: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13234B-948B-8FD7-15DB-D6F155036E26}"/>
              </a:ext>
            </a:extLst>
          </p:cNvPr>
          <p:cNvSpPr/>
          <p:nvPr/>
        </p:nvSpPr>
        <p:spPr>
          <a:xfrm>
            <a:off x="8162109" y="24775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2. Series </a:t>
            </a:r>
            <a:r>
              <a:rPr lang="en-US" sz="2000" b="1" dirty="0" err="1">
                <a:solidFill>
                  <a:srgbClr val="002060"/>
                </a:solidFill>
              </a:rPr>
              <a:t>Temporales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20B8FEC-0E58-E8B5-C60A-9CB09C3F5944}"/>
              </a:ext>
            </a:extLst>
          </p:cNvPr>
          <p:cNvSpPr/>
          <p:nvPr/>
        </p:nvSpPr>
        <p:spPr>
          <a:xfrm>
            <a:off x="8344989" y="293478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t>• Suavizado Exponencial</a:t>
            </a:r>
          </a:p>
          <a:p>
            <a:pPr>
              <a:defRPr/>
            </a:pPr>
            <a:r>
              <a:t>• Media Móvil Tendencia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C6B9A1E-36FC-D831-BEC1-BE00A561589E}"/>
              </a:ext>
            </a:extLst>
          </p:cNvPr>
          <p:cNvSpPr/>
          <p:nvPr/>
        </p:nvSpPr>
        <p:spPr>
          <a:xfrm>
            <a:off x="3742509" y="41235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3. Machine Learning</a:t>
            </a: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88B3728F-010D-A49F-C844-20DD5768E697}"/>
              </a:ext>
            </a:extLst>
          </p:cNvPr>
          <p:cNvSpPr/>
          <p:nvPr/>
        </p:nvSpPr>
        <p:spPr>
          <a:xfrm>
            <a:off x="3925389" y="458070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t>• Heurístico 2obs</a:t>
            </a:r>
          </a:p>
          <a:p>
            <a:pPr>
              <a:defRPr/>
            </a:pPr>
            <a:r>
              <a:t>• Modelo Conservador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0CDD535-22FA-0865-9403-509A9B6B7F68}"/>
              </a:ext>
            </a:extLst>
          </p:cNvPr>
          <p:cNvSpPr/>
          <p:nvPr/>
        </p:nvSpPr>
        <p:spPr>
          <a:xfrm>
            <a:off x="8162109" y="39406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02060"/>
                </a:solidFill>
              </a:rPr>
              <a:t>4. </a:t>
            </a:r>
            <a:r>
              <a:rPr lang="en-US" sz="2000" b="1" dirty="0" err="1">
                <a:solidFill>
                  <a:srgbClr val="002060"/>
                </a:solidFill>
              </a:rPr>
              <a:t>Otros</a:t>
            </a:r>
            <a:endParaRPr lang="en-US" sz="2000" b="1" dirty="0">
              <a:solidFill>
                <a:srgbClr val="002060"/>
              </a:solidFill>
            </a:endParaRP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3D15E36-CD03-E182-670E-391C389EAC2C}"/>
              </a:ext>
            </a:extLst>
          </p:cNvPr>
          <p:cNvSpPr/>
          <p:nvPr/>
        </p:nvSpPr>
        <p:spPr>
          <a:xfrm>
            <a:off x="8344989" y="4397828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t>• Proyección CAGR</a:t>
            </a:r>
          </a:p>
        </p:txBody>
      </p:sp>
    </p:spTree>
    <p:extLst>
      <p:ext uri="{BB962C8B-B14F-4D97-AF65-F5344CB8AC3E}">
        <p14:creationId xmlns:p14="http://schemas.microsoft.com/office/powerpoint/2010/main" val="3758067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794044-AF83-710B-1EE9-D2AC09017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and white clouds&#10;&#10;AI-generated content may be incorrect." hidden="1">
            <a:extLst>
              <a:ext uri="{FF2B5EF4-FFF2-40B4-BE49-F238E27FC236}">
                <a16:creationId xmlns:a16="http://schemas.microsoft.com/office/drawing/2014/main" id="{207576ED-3633-8FD4-C461-95D08A5E2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4" name="Google Shape;915;p33">
            <a:extLst>
              <a:ext uri="{FF2B5EF4-FFF2-40B4-BE49-F238E27FC236}">
                <a16:creationId xmlns:a16="http://schemas.microsoft.com/office/drawing/2014/main" id="{C3156A92-BDE2-8D79-73D8-7A177383C1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814701"/>
              </p:ext>
            </p:extLst>
          </p:nvPr>
        </p:nvGraphicFramePr>
        <p:xfrm>
          <a:off x="457198" y="2288125"/>
          <a:ext cx="11190516" cy="39928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7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7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55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Modelo estadístico básico que ajusta una línea recta a los datos históricos. Asume una relación lineal entre el tiempo y la variable objetivo.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Captura relaciones cuadráticas (parábolas) en los datos. Permite modelar aceleraciones o desaceleraciones en el crecimiento.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Promedio ponderado exponencialmente que da más peso a observaciones recientes. Método Holt con tendencia aditiva.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Promedio móvil de ventana deslizante más ajuste de tendencia lineal basado en diferencias recientes.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 dirty="0">
                          <a:solidFill>
                            <a:srgbClr val="FFFFFF"/>
                          </a:solidFill>
                        </a:rPr>
                        <a:t>Usos</a:t>
                      </a:r>
                      <a:endParaRPr sz="15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 dirty="0">
                          <a:solidFill>
                            <a:srgbClr val="FFFFFF"/>
                          </a:solidFill>
                        </a:rPr>
                        <a:t>Usos</a:t>
                      </a:r>
                      <a:endParaRPr sz="15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 dirty="0">
                          <a:solidFill>
                            <a:srgbClr val="FFFFFF"/>
                          </a:solidFill>
                        </a:rPr>
                        <a:t>Usos</a:t>
                      </a:r>
                      <a:endParaRPr sz="15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 dirty="0">
                          <a:solidFill>
                            <a:srgbClr val="FFFFFF"/>
                          </a:solidFill>
                        </a:rPr>
                        <a:t>Usos</a:t>
                      </a:r>
                      <a:endParaRPr sz="15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1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Indicadores con tendencias simples y estables. Ideal para crecimientos/decrementos constantes sin aceleraciones.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Crecimientos acelerados o desacelerados. Patrones con un punto de inflexión (máximo o mínimo).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Tendencias suaves sin estacionalidad. Suaviza ruido manteniendo la tendencia.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Suavizar ruido y capturar tendencia. Simple y robusto para indicadores estables.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Google Shape;916;p33">
            <a:extLst>
              <a:ext uri="{FF2B5EF4-FFF2-40B4-BE49-F238E27FC236}">
                <a16:creationId xmlns:a16="http://schemas.microsoft.com/office/drawing/2014/main" id="{922A3FFF-6F33-4705-6F32-70C421A4DEF4}"/>
              </a:ext>
            </a:extLst>
          </p:cNvPr>
          <p:cNvSpPr/>
          <p:nvPr/>
        </p:nvSpPr>
        <p:spPr>
          <a:xfrm>
            <a:off x="457198" y="1527904"/>
            <a:ext cx="2612573" cy="4155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US" sz="1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Regresión Lineal</a:t>
            </a:r>
          </a:p>
        </p:txBody>
      </p:sp>
      <p:sp>
        <p:nvSpPr>
          <p:cNvPr id="46" name="Google Shape;917;p33">
            <a:extLst>
              <a:ext uri="{FF2B5EF4-FFF2-40B4-BE49-F238E27FC236}">
                <a16:creationId xmlns:a16="http://schemas.microsoft.com/office/drawing/2014/main" id="{FECCF593-56D6-30D0-2354-ADCC69B3DEEE}"/>
              </a:ext>
            </a:extLst>
          </p:cNvPr>
          <p:cNvSpPr/>
          <p:nvPr/>
        </p:nvSpPr>
        <p:spPr>
          <a:xfrm>
            <a:off x="3310085" y="1489279"/>
            <a:ext cx="2927429" cy="44785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Regresión Polinomial Grado 2</a:t>
            </a:r>
          </a:p>
        </p:txBody>
      </p:sp>
      <p:sp>
        <p:nvSpPr>
          <p:cNvPr id="47" name="Google Shape;918;p33">
            <a:extLst>
              <a:ext uri="{FF2B5EF4-FFF2-40B4-BE49-F238E27FC236}">
                <a16:creationId xmlns:a16="http://schemas.microsoft.com/office/drawing/2014/main" id="{6CAFB911-D262-FBCD-95C6-D48D9990CCF0}"/>
              </a:ext>
            </a:extLst>
          </p:cNvPr>
          <p:cNvSpPr/>
          <p:nvPr/>
        </p:nvSpPr>
        <p:spPr>
          <a:xfrm>
            <a:off x="6336314" y="1460277"/>
            <a:ext cx="2513772" cy="476854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Suavizado Exponencial (Holt)</a:t>
            </a:r>
          </a:p>
        </p:txBody>
      </p:sp>
      <p:sp>
        <p:nvSpPr>
          <p:cNvPr id="48" name="Google Shape;919;p33">
            <a:extLst>
              <a:ext uri="{FF2B5EF4-FFF2-40B4-BE49-F238E27FC236}">
                <a16:creationId xmlns:a16="http://schemas.microsoft.com/office/drawing/2014/main" id="{731F8FA7-C53A-E92E-7DDA-A08F1D2E154A}"/>
              </a:ext>
            </a:extLst>
          </p:cNvPr>
          <p:cNvSpPr/>
          <p:nvPr/>
        </p:nvSpPr>
        <p:spPr>
          <a:xfrm>
            <a:off x="8948885" y="1451249"/>
            <a:ext cx="2539855" cy="415589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Media Móvil con Tendencia</a:t>
            </a:r>
          </a:p>
        </p:txBody>
      </p:sp>
      <p:sp>
        <p:nvSpPr>
          <p:cNvPr id="139" name="TextBox 1">
            <a:extLst>
              <a:ext uri="{FF2B5EF4-FFF2-40B4-BE49-F238E27FC236}">
                <a16:creationId xmlns:a16="http://schemas.microsoft.com/office/drawing/2014/main" id="{70EBF17D-8871-425E-CB4A-7BE4E314D8B0}"/>
              </a:ext>
            </a:extLst>
          </p:cNvPr>
          <p:cNvSpPr txBox="1"/>
          <p:nvPr/>
        </p:nvSpPr>
        <p:spPr>
          <a:xfrm>
            <a:off x="457200" y="274320"/>
            <a:ext cx="11031540" cy="58477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600" b="1">
                <a:solidFill>
                  <a:srgbClr val="00B0F0"/>
                </a:solidFill>
                <a:latin typeface="Teko"/>
                <a:ea typeface="Open Sans"/>
                <a:cs typeface="Open Sans"/>
              </a:defRPr>
            </a:lvl1pPr>
          </a:lstStyle>
          <a:p>
            <a:pPr algn="ctr"/>
            <a:r>
              <a:rPr sz="4400" dirty="0" err="1"/>
              <a:t>Resumen</a:t>
            </a:r>
            <a:r>
              <a:rPr sz="4400" dirty="0"/>
              <a:t> de Modelos</a:t>
            </a:r>
          </a:p>
        </p:txBody>
      </p:sp>
    </p:spTree>
    <p:extLst>
      <p:ext uri="{BB962C8B-B14F-4D97-AF65-F5344CB8AC3E}">
        <p14:creationId xmlns:p14="http://schemas.microsoft.com/office/powerpoint/2010/main" val="375392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FB6C86-895D-7816-B4EA-3BE61D30C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and white clouds&#10;&#10;AI-generated content may be incorrect." hidden="1">
            <a:extLst>
              <a:ext uri="{FF2B5EF4-FFF2-40B4-BE49-F238E27FC236}">
                <a16:creationId xmlns:a16="http://schemas.microsoft.com/office/drawing/2014/main" id="{4D52E599-EF01-D775-5384-11F46A7E7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4" name="Google Shape;915;p33">
            <a:extLst>
              <a:ext uri="{FF2B5EF4-FFF2-40B4-BE49-F238E27FC236}">
                <a16:creationId xmlns:a16="http://schemas.microsoft.com/office/drawing/2014/main" id="{DB7ACC3E-C59B-10A8-D5AD-183E8C5E4B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5049671"/>
              </p:ext>
            </p:extLst>
          </p:nvPr>
        </p:nvGraphicFramePr>
        <p:xfrm>
          <a:off x="457198" y="2288125"/>
          <a:ext cx="11190516" cy="37490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797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8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66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76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55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Modelo simple basado en las últimas 2 observaciones. Calcula la tendencia promedio entre los últimos dos puntos y la proyecta linealmente.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Proyección que penaliza crecimientos agresivos. Aplica un factor de ajuste conservador (0.7-0.9) a la tendencia proyectada para evitar sobreestimaciones.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Tasa de Crecimiento Anual Compuesta suavizada. Combina CAGR histórico (60%) y reciente (40%).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Promedio de las proyecciones de todos los modelos individuales disponibles. Reduce varianza y mejora estabilidad.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 dirty="0">
                          <a:solidFill>
                            <a:srgbClr val="FFFFFF"/>
                          </a:solidFill>
                        </a:rPr>
                        <a:t>Usos</a:t>
                      </a:r>
                      <a:endParaRPr sz="15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 dirty="0">
                          <a:solidFill>
                            <a:srgbClr val="FFFFFF"/>
                          </a:solidFill>
                        </a:rPr>
                        <a:t>Usos</a:t>
                      </a:r>
                      <a:endParaRPr sz="15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 dirty="0">
                          <a:solidFill>
                            <a:srgbClr val="FFFFFF"/>
                          </a:solidFill>
                        </a:rPr>
                        <a:t>Usos</a:t>
                      </a:r>
                      <a:endParaRPr sz="15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500" dirty="0">
                          <a:solidFill>
                            <a:srgbClr val="FFFFFF"/>
                          </a:solidFill>
                        </a:rPr>
                        <a:t>Usos</a:t>
                      </a:r>
                      <a:endParaRPr sz="1500" dirty="0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1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Tendencias recientes estables. Cambios súbitos en el patrón. </a:t>
                      </a:r>
                      <a:r>
                        <a:rPr lang="es-CO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Baseline</a:t>
                      </a: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rápido y simple.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Escenarios de incertidumbre. Proyecciones de riesgo. Cuando se prefiere subestimar que sobreestimar.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Proyecciones conservadoras. Estabiliza volatilidad. Respeta el Sentido del indicador.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Reduce </a:t>
                      </a:r>
                      <a:r>
                        <a:rPr lang="es-CO" sz="16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overfitting</a:t>
                      </a: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de modelos individuales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Mayor robustez ante cambios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Mejor generalización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3F3">
                        <a:alpha val="6369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5" name="Google Shape;916;p33">
            <a:extLst>
              <a:ext uri="{FF2B5EF4-FFF2-40B4-BE49-F238E27FC236}">
                <a16:creationId xmlns:a16="http://schemas.microsoft.com/office/drawing/2014/main" id="{19A98DA1-556B-4AC1-9EF4-774ACA0E7412}"/>
              </a:ext>
            </a:extLst>
          </p:cNvPr>
          <p:cNvSpPr/>
          <p:nvPr/>
        </p:nvSpPr>
        <p:spPr>
          <a:xfrm>
            <a:off x="457198" y="1527904"/>
            <a:ext cx="2612573" cy="41558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US" sz="1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Heurístico 2obs</a:t>
            </a:r>
          </a:p>
        </p:txBody>
      </p:sp>
      <p:sp>
        <p:nvSpPr>
          <p:cNvPr id="46" name="Google Shape;917;p33">
            <a:extLst>
              <a:ext uri="{FF2B5EF4-FFF2-40B4-BE49-F238E27FC236}">
                <a16:creationId xmlns:a16="http://schemas.microsoft.com/office/drawing/2014/main" id="{8AA4A13D-95C7-3D80-6E46-F039F4B82B30}"/>
              </a:ext>
            </a:extLst>
          </p:cNvPr>
          <p:cNvSpPr/>
          <p:nvPr/>
        </p:nvSpPr>
        <p:spPr>
          <a:xfrm>
            <a:off x="3310086" y="1460277"/>
            <a:ext cx="2927429" cy="447852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 panose="020B0604020202020204" charset="0"/>
                <a:ea typeface="Fira Sans Extra Condensed Medium"/>
                <a:cs typeface="Fira Sans Extra Condensed Medium"/>
                <a:sym typeface="Fira Sans Extra Condensed Medium"/>
              </a:rPr>
              <a:t>Modelo Conservador</a:t>
            </a:r>
          </a:p>
        </p:txBody>
      </p:sp>
      <p:sp>
        <p:nvSpPr>
          <p:cNvPr id="47" name="Google Shape;918;p33">
            <a:extLst>
              <a:ext uri="{FF2B5EF4-FFF2-40B4-BE49-F238E27FC236}">
                <a16:creationId xmlns:a16="http://schemas.microsoft.com/office/drawing/2014/main" id="{522FD5F8-6138-43DC-82B0-3466713FD77E}"/>
              </a:ext>
            </a:extLst>
          </p:cNvPr>
          <p:cNvSpPr/>
          <p:nvPr/>
        </p:nvSpPr>
        <p:spPr>
          <a:xfrm>
            <a:off x="6336314" y="1460277"/>
            <a:ext cx="2513772" cy="476854"/>
          </a:xfrm>
          <a:prstGeom prst="roundRect">
            <a:avLst>
              <a:gd name="adj" fmla="val 50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Proyección CAGR Suavizado</a:t>
            </a:r>
          </a:p>
        </p:txBody>
      </p:sp>
      <p:sp>
        <p:nvSpPr>
          <p:cNvPr id="48" name="Google Shape;919;p33">
            <a:extLst>
              <a:ext uri="{FF2B5EF4-FFF2-40B4-BE49-F238E27FC236}">
                <a16:creationId xmlns:a16="http://schemas.microsoft.com/office/drawing/2014/main" id="{5FBA3370-95B5-5B22-5D32-AA2559AC7FCB}"/>
              </a:ext>
            </a:extLst>
          </p:cNvPr>
          <p:cNvSpPr/>
          <p:nvPr/>
        </p:nvSpPr>
        <p:spPr>
          <a:xfrm>
            <a:off x="8948885" y="1451249"/>
            <a:ext cx="2539855" cy="415589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s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Ensemble Promedio</a:t>
            </a:r>
          </a:p>
        </p:txBody>
      </p:sp>
      <p:sp>
        <p:nvSpPr>
          <p:cNvPr id="139" name="TextBox 1">
            <a:extLst>
              <a:ext uri="{FF2B5EF4-FFF2-40B4-BE49-F238E27FC236}">
                <a16:creationId xmlns:a16="http://schemas.microsoft.com/office/drawing/2014/main" id="{EBB6DB4E-09E7-6B2B-F55F-CADDA9E93A79}"/>
              </a:ext>
            </a:extLst>
          </p:cNvPr>
          <p:cNvSpPr txBox="1"/>
          <p:nvPr/>
        </p:nvSpPr>
        <p:spPr>
          <a:xfrm>
            <a:off x="457200" y="274320"/>
            <a:ext cx="11031540" cy="584775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>
              <a:lnSpc>
                <a:spcPct val="100000"/>
              </a:lnSpc>
              <a:spcBef>
                <a:spcPct val="0"/>
              </a:spcBef>
              <a:buNone/>
              <a:defRPr sz="6600" b="1">
                <a:solidFill>
                  <a:srgbClr val="00B0F0"/>
                </a:solidFill>
                <a:latin typeface="Teko"/>
                <a:ea typeface="Open Sans"/>
                <a:cs typeface="Open Sans"/>
              </a:defRPr>
            </a:lvl1pPr>
          </a:lstStyle>
          <a:p>
            <a:pPr algn="ctr"/>
            <a:r>
              <a:rPr sz="4400" dirty="0" err="1"/>
              <a:t>Resumen</a:t>
            </a:r>
            <a:r>
              <a:rPr sz="4400" dirty="0"/>
              <a:t> de Modelos</a:t>
            </a:r>
          </a:p>
        </p:txBody>
      </p:sp>
    </p:spTree>
    <p:extLst>
      <p:ext uri="{BB962C8B-B14F-4D97-AF65-F5344CB8AC3E}">
        <p14:creationId xmlns:p14="http://schemas.microsoft.com/office/powerpoint/2010/main" val="290066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FC3FB-8872-CC5B-FDEA-5DD6617E9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and white clouds&#10;&#10;AI-generated content may be incorrect." hidden="1">
            <a:extLst>
              <a:ext uri="{FF2B5EF4-FFF2-40B4-BE49-F238E27FC236}">
                <a16:creationId xmlns:a16="http://schemas.microsoft.com/office/drawing/2014/main" id="{34CDB6B5-492B-070E-8578-693792933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DE2AA89C-065C-B619-CA2C-078A93BECDE5}"/>
              </a:ext>
            </a:extLst>
          </p:cNvPr>
          <p:cNvSpPr/>
          <p:nvPr/>
        </p:nvSpPr>
        <p:spPr>
          <a:xfrm>
            <a:off x="822960" y="855617"/>
            <a:ext cx="9982200" cy="64008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sz="4000" b="1" dirty="0">
                <a:solidFill>
                  <a:srgbClr val="00B0F0"/>
                </a:solidFill>
                <a:latin typeface="Teko"/>
                <a:ea typeface="Open Sans"/>
                <a:cs typeface="Open Sans"/>
              </a:rPr>
              <a:t>Criterios de Selección del Mejor Modelo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FED63E4-7B37-9649-07FC-C0F2CC4657FC}"/>
              </a:ext>
            </a:extLst>
          </p:cNvPr>
          <p:cNvSpPr/>
          <p:nvPr/>
        </p:nvSpPr>
        <p:spPr>
          <a:xfrm>
            <a:off x="780978" y="1902990"/>
            <a:ext cx="9219251" cy="6484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200" b="1" dirty="0">
                <a:solidFill>
                  <a:srgbClr val="F39C12"/>
                </a:solidFill>
              </a:rPr>
              <a:t>Score Multivariado (menor = mejor)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347F41E-FB5A-BB3E-6B07-B2FEEEA5DEF7}"/>
              </a:ext>
            </a:extLst>
          </p:cNvPr>
          <p:cNvSpPr/>
          <p:nvPr/>
        </p:nvSpPr>
        <p:spPr>
          <a:xfrm>
            <a:off x="780977" y="2551444"/>
            <a:ext cx="9440709" cy="1134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dirty="0">
                <a:solidFill>
                  <a:srgbClr val="5D6D7E"/>
                </a:solidFill>
                <a:latin typeface="Verdana" panose="020B0604030504040204" pitchFamily="34" charset="0"/>
                <a:ea typeface="Verdana" panose="020B0604030504040204" pitchFamily="34" charset="0"/>
                <a:cs typeface="Courier New" pitchFamily="34" charset="-120"/>
              </a:rPr>
              <a:t>Score = 0.18×MAPE + 0.13×RMSE + 0.10×(1-R²) + 0.10×|Bias| + 0.09×Stability + 0.15×Penal_Plausibilidad + 0.15×Penal_Crecimientos + 0.10×Penal_100%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8F01DE3-07B1-3B2C-1073-A72593DBA1AF}"/>
              </a:ext>
            </a:extLst>
          </p:cNvPr>
          <p:cNvSpPr/>
          <p:nvPr/>
        </p:nvSpPr>
        <p:spPr>
          <a:xfrm>
            <a:off x="822959" y="3731623"/>
            <a:ext cx="9219251" cy="486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800" b="1" dirty="0">
                <a:solidFill>
                  <a:srgbClr val="1C2833"/>
                </a:solidFill>
              </a:rPr>
              <a:t>Interpretación:</a:t>
            </a:r>
            <a:endParaRPr lang="en-US" sz="18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1F4A9F2-2358-0FC4-C23C-8E72B7BFEF24}"/>
              </a:ext>
            </a:extLst>
          </p:cNvPr>
          <p:cNvSpPr/>
          <p:nvPr/>
        </p:nvSpPr>
        <p:spPr>
          <a:xfrm>
            <a:off x="657496" y="4217963"/>
            <a:ext cx="8769531" cy="2107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400" dirty="0">
                <a:solidFill>
                  <a:srgbClr val="5D6D7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Score &lt; 0.20    → Excelente modelo ⭐⭐⭐⭐⭐</a:t>
            </a:r>
            <a:endParaRPr lang="en-US" sz="2400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5D6D7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Score 0.20-0.40 → Buen modelo ⭐⭐⭐⭐</a:t>
            </a:r>
            <a:endParaRPr lang="en-US" sz="2400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5D6D7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Score 0.40-0.60 → Modelo aceptable ⭐⭐⭐</a:t>
            </a:r>
            <a:endParaRPr lang="en-US" sz="2400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sz="2400" dirty="0">
                <a:solidFill>
                  <a:srgbClr val="5D6D7E"/>
                </a:solidFill>
                <a:latin typeface="+mj-lt"/>
                <a:ea typeface="Courier New" pitchFamily="34" charset="-122"/>
                <a:cs typeface="Courier New" pitchFamily="34" charset="-120"/>
              </a:rPr>
              <a:t>Score &gt; 0.60    → Modelo deficiente ⭐⭐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692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CEC86-7B11-B365-21ED-9A2EC58FD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background with black and white clouds&#10;&#10;AI-generated content may be incorrect." hidden="1">
            <a:extLst>
              <a:ext uri="{FF2B5EF4-FFF2-40B4-BE49-F238E27FC236}">
                <a16:creationId xmlns:a16="http://schemas.microsoft.com/office/drawing/2014/main" id="{D84B8680-3600-7691-B1AE-88D7E7FFE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56" name="Google Shape;2357;p35">
            <a:extLst>
              <a:ext uri="{FF2B5EF4-FFF2-40B4-BE49-F238E27FC236}">
                <a16:creationId xmlns:a16="http://schemas.microsoft.com/office/drawing/2014/main" id="{2D72F38B-3E81-C0B0-6FD8-0E8E7645F3AF}"/>
              </a:ext>
            </a:extLst>
          </p:cNvPr>
          <p:cNvGrpSpPr/>
          <p:nvPr/>
        </p:nvGrpSpPr>
        <p:grpSpPr>
          <a:xfrm>
            <a:off x="968834" y="1375100"/>
            <a:ext cx="10072632" cy="4307243"/>
            <a:chOff x="1430630" y="1222700"/>
            <a:chExt cx="8229520" cy="3511875"/>
          </a:xfrm>
        </p:grpSpPr>
        <p:sp>
          <p:nvSpPr>
            <p:cNvPr id="57" name="Google Shape;2358;p35">
              <a:extLst>
                <a:ext uri="{FF2B5EF4-FFF2-40B4-BE49-F238E27FC236}">
                  <a16:creationId xmlns:a16="http://schemas.microsoft.com/office/drawing/2014/main" id="{F9116561-992A-7084-4044-19FECF1DFE51}"/>
                </a:ext>
              </a:extLst>
            </p:cNvPr>
            <p:cNvSpPr/>
            <p:nvPr/>
          </p:nvSpPr>
          <p:spPr>
            <a:xfrm>
              <a:off x="1981950" y="4075475"/>
              <a:ext cx="7678200" cy="6591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8" name="Google Shape;2359;p35">
              <a:extLst>
                <a:ext uri="{FF2B5EF4-FFF2-40B4-BE49-F238E27FC236}">
                  <a16:creationId xmlns:a16="http://schemas.microsoft.com/office/drawing/2014/main" id="{62437703-DCBA-F130-D830-C8797B7B8942}"/>
                </a:ext>
              </a:extLst>
            </p:cNvPr>
            <p:cNvSpPr/>
            <p:nvPr/>
          </p:nvSpPr>
          <p:spPr>
            <a:xfrm>
              <a:off x="1981950" y="3175100"/>
              <a:ext cx="7678200" cy="6591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59" name="Google Shape;2360;p35">
              <a:extLst>
                <a:ext uri="{FF2B5EF4-FFF2-40B4-BE49-F238E27FC236}">
                  <a16:creationId xmlns:a16="http://schemas.microsoft.com/office/drawing/2014/main" id="{10B03E61-EE09-B83A-BE42-39340369F2B0}"/>
                </a:ext>
              </a:extLst>
            </p:cNvPr>
            <p:cNvSpPr/>
            <p:nvPr/>
          </p:nvSpPr>
          <p:spPr>
            <a:xfrm>
              <a:off x="1981950" y="2292250"/>
              <a:ext cx="7678200" cy="6591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0" name="Google Shape;2361;p35">
              <a:extLst>
                <a:ext uri="{FF2B5EF4-FFF2-40B4-BE49-F238E27FC236}">
                  <a16:creationId xmlns:a16="http://schemas.microsoft.com/office/drawing/2014/main" id="{35AF9DF5-A712-0401-87D2-83CAE4D853EE}"/>
                </a:ext>
              </a:extLst>
            </p:cNvPr>
            <p:cNvSpPr/>
            <p:nvPr/>
          </p:nvSpPr>
          <p:spPr>
            <a:xfrm>
              <a:off x="1981950" y="1390450"/>
              <a:ext cx="7678200" cy="659100"/>
            </a:xfrm>
            <a:prstGeom prst="roundRect">
              <a:avLst>
                <a:gd name="adj" fmla="val 16667"/>
              </a:avLst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1" name="Google Shape;2362;p35">
              <a:extLst>
                <a:ext uri="{FF2B5EF4-FFF2-40B4-BE49-F238E27FC236}">
                  <a16:creationId xmlns:a16="http://schemas.microsoft.com/office/drawing/2014/main" id="{9EAB6B2A-F2F8-B6E4-239E-F3FE8DAAB262}"/>
                </a:ext>
              </a:extLst>
            </p:cNvPr>
            <p:cNvSpPr/>
            <p:nvPr/>
          </p:nvSpPr>
          <p:spPr>
            <a:xfrm>
              <a:off x="1982005" y="1222700"/>
              <a:ext cx="1053300" cy="739375"/>
            </a:xfrm>
            <a:custGeom>
              <a:avLst/>
              <a:gdLst/>
              <a:ahLst/>
              <a:cxnLst/>
              <a:rect l="l" t="t" r="r" b="b"/>
              <a:pathLst>
                <a:path w="42132" h="29575" extrusionOk="0">
                  <a:moveTo>
                    <a:pt x="3209" y="1"/>
                  </a:moveTo>
                  <a:cubicBezTo>
                    <a:pt x="1429" y="1"/>
                    <a:pt x="0" y="1429"/>
                    <a:pt x="0" y="3209"/>
                  </a:cubicBezTo>
                  <a:lnTo>
                    <a:pt x="0" y="29575"/>
                  </a:lnTo>
                  <a:cubicBezTo>
                    <a:pt x="0" y="27795"/>
                    <a:pt x="1429" y="26342"/>
                    <a:pt x="3209" y="26342"/>
                  </a:cubicBezTo>
                  <a:lnTo>
                    <a:pt x="34537" y="26342"/>
                  </a:lnTo>
                  <a:lnTo>
                    <a:pt x="42131" y="13184"/>
                  </a:lnTo>
                  <a:lnTo>
                    <a:pt x="34537" y="1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2" name="Google Shape;2363;p35">
              <a:extLst>
                <a:ext uri="{FF2B5EF4-FFF2-40B4-BE49-F238E27FC236}">
                  <a16:creationId xmlns:a16="http://schemas.microsoft.com/office/drawing/2014/main" id="{0D3BF323-4DCE-4702-4E4D-A88E39B979F5}"/>
                </a:ext>
              </a:extLst>
            </p:cNvPr>
            <p:cNvSpPr/>
            <p:nvPr/>
          </p:nvSpPr>
          <p:spPr>
            <a:xfrm>
              <a:off x="1982005" y="1383100"/>
              <a:ext cx="1084625" cy="578975"/>
            </a:xfrm>
            <a:custGeom>
              <a:avLst/>
              <a:gdLst/>
              <a:ahLst/>
              <a:cxnLst/>
              <a:rect l="l" t="t" r="r" b="b"/>
              <a:pathLst>
                <a:path w="43385" h="23159" extrusionOk="0">
                  <a:moveTo>
                    <a:pt x="38246" y="1"/>
                  </a:moveTo>
                  <a:lnTo>
                    <a:pt x="42131" y="6768"/>
                  </a:lnTo>
                  <a:lnTo>
                    <a:pt x="34537" y="19951"/>
                  </a:lnTo>
                  <a:lnTo>
                    <a:pt x="3209" y="19951"/>
                  </a:lnTo>
                  <a:cubicBezTo>
                    <a:pt x="1429" y="19951"/>
                    <a:pt x="0" y="21379"/>
                    <a:pt x="0" y="23159"/>
                  </a:cubicBezTo>
                  <a:cubicBezTo>
                    <a:pt x="0" y="23159"/>
                    <a:pt x="427" y="20878"/>
                    <a:pt x="3133" y="20878"/>
                  </a:cubicBezTo>
                  <a:lnTo>
                    <a:pt x="35239" y="20878"/>
                  </a:lnTo>
                  <a:lnTo>
                    <a:pt x="43384" y="6768"/>
                  </a:lnTo>
                  <a:lnTo>
                    <a:pt x="39499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3" name="Google Shape;2364;p35">
              <a:extLst>
                <a:ext uri="{FF2B5EF4-FFF2-40B4-BE49-F238E27FC236}">
                  <a16:creationId xmlns:a16="http://schemas.microsoft.com/office/drawing/2014/main" id="{7B4B8524-9921-866A-FDF2-3E629F25A201}"/>
                </a:ext>
              </a:extLst>
            </p:cNvPr>
            <p:cNvSpPr/>
            <p:nvPr/>
          </p:nvSpPr>
          <p:spPr>
            <a:xfrm>
              <a:off x="1982005" y="2274725"/>
              <a:ext cx="1084625" cy="578975"/>
            </a:xfrm>
            <a:custGeom>
              <a:avLst/>
              <a:gdLst/>
              <a:ahLst/>
              <a:cxnLst/>
              <a:rect l="l" t="t" r="r" b="b"/>
              <a:pathLst>
                <a:path w="43385" h="23159" extrusionOk="0">
                  <a:moveTo>
                    <a:pt x="38246" y="0"/>
                  </a:moveTo>
                  <a:lnTo>
                    <a:pt x="42131" y="6767"/>
                  </a:lnTo>
                  <a:lnTo>
                    <a:pt x="34537" y="19925"/>
                  </a:lnTo>
                  <a:lnTo>
                    <a:pt x="3209" y="19925"/>
                  </a:lnTo>
                  <a:cubicBezTo>
                    <a:pt x="1429" y="19925"/>
                    <a:pt x="0" y="21379"/>
                    <a:pt x="0" y="23158"/>
                  </a:cubicBezTo>
                  <a:cubicBezTo>
                    <a:pt x="0" y="23158"/>
                    <a:pt x="427" y="20878"/>
                    <a:pt x="3133" y="20878"/>
                  </a:cubicBezTo>
                  <a:lnTo>
                    <a:pt x="35239" y="20878"/>
                  </a:lnTo>
                  <a:lnTo>
                    <a:pt x="43384" y="6767"/>
                  </a:lnTo>
                  <a:lnTo>
                    <a:pt x="39499" y="0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4" name="Google Shape;2365;p35">
              <a:extLst>
                <a:ext uri="{FF2B5EF4-FFF2-40B4-BE49-F238E27FC236}">
                  <a16:creationId xmlns:a16="http://schemas.microsoft.com/office/drawing/2014/main" id="{CFCA9B93-4C0B-8A06-6927-6F55280C8CF1}"/>
                </a:ext>
              </a:extLst>
            </p:cNvPr>
            <p:cNvSpPr/>
            <p:nvPr/>
          </p:nvSpPr>
          <p:spPr>
            <a:xfrm>
              <a:off x="1982005" y="3166325"/>
              <a:ext cx="1084625" cy="578975"/>
            </a:xfrm>
            <a:custGeom>
              <a:avLst/>
              <a:gdLst/>
              <a:ahLst/>
              <a:cxnLst/>
              <a:rect l="l" t="t" r="r" b="b"/>
              <a:pathLst>
                <a:path w="43385" h="23159" extrusionOk="0">
                  <a:moveTo>
                    <a:pt x="38246" y="1"/>
                  </a:moveTo>
                  <a:lnTo>
                    <a:pt x="42131" y="6742"/>
                  </a:lnTo>
                  <a:lnTo>
                    <a:pt x="34537" y="19925"/>
                  </a:lnTo>
                  <a:lnTo>
                    <a:pt x="3209" y="19925"/>
                  </a:lnTo>
                  <a:cubicBezTo>
                    <a:pt x="1429" y="19925"/>
                    <a:pt x="0" y="21379"/>
                    <a:pt x="0" y="23159"/>
                  </a:cubicBezTo>
                  <a:cubicBezTo>
                    <a:pt x="0" y="23159"/>
                    <a:pt x="427" y="20878"/>
                    <a:pt x="3133" y="20878"/>
                  </a:cubicBezTo>
                  <a:lnTo>
                    <a:pt x="35239" y="20878"/>
                  </a:lnTo>
                  <a:lnTo>
                    <a:pt x="43384" y="6742"/>
                  </a:lnTo>
                  <a:lnTo>
                    <a:pt x="39499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5" name="Google Shape;2366;p35">
              <a:extLst>
                <a:ext uri="{FF2B5EF4-FFF2-40B4-BE49-F238E27FC236}">
                  <a16:creationId xmlns:a16="http://schemas.microsoft.com/office/drawing/2014/main" id="{32676B80-EDB8-3CFA-7B75-E22F1938E859}"/>
                </a:ext>
              </a:extLst>
            </p:cNvPr>
            <p:cNvSpPr/>
            <p:nvPr/>
          </p:nvSpPr>
          <p:spPr>
            <a:xfrm>
              <a:off x="1982005" y="4057925"/>
              <a:ext cx="1084625" cy="578975"/>
            </a:xfrm>
            <a:custGeom>
              <a:avLst/>
              <a:gdLst/>
              <a:ahLst/>
              <a:cxnLst/>
              <a:rect l="l" t="t" r="r" b="b"/>
              <a:pathLst>
                <a:path w="43385" h="23159" extrusionOk="0">
                  <a:moveTo>
                    <a:pt x="38246" y="1"/>
                  </a:moveTo>
                  <a:lnTo>
                    <a:pt x="42131" y="6743"/>
                  </a:lnTo>
                  <a:lnTo>
                    <a:pt x="34537" y="19926"/>
                  </a:lnTo>
                  <a:lnTo>
                    <a:pt x="3209" y="19926"/>
                  </a:lnTo>
                  <a:cubicBezTo>
                    <a:pt x="1429" y="19926"/>
                    <a:pt x="0" y="21379"/>
                    <a:pt x="0" y="23159"/>
                  </a:cubicBezTo>
                  <a:cubicBezTo>
                    <a:pt x="0" y="23159"/>
                    <a:pt x="427" y="20878"/>
                    <a:pt x="3133" y="20878"/>
                  </a:cubicBezTo>
                  <a:lnTo>
                    <a:pt x="35239" y="20878"/>
                  </a:lnTo>
                  <a:lnTo>
                    <a:pt x="43384" y="6743"/>
                  </a:lnTo>
                  <a:lnTo>
                    <a:pt x="39499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6" name="Google Shape;2367;p35">
              <a:extLst>
                <a:ext uri="{FF2B5EF4-FFF2-40B4-BE49-F238E27FC236}">
                  <a16:creationId xmlns:a16="http://schemas.microsoft.com/office/drawing/2014/main" id="{6DE61B9E-8ECD-79B1-80EC-449A32DC7979}"/>
                </a:ext>
              </a:extLst>
            </p:cNvPr>
            <p:cNvSpPr/>
            <p:nvPr/>
          </p:nvSpPr>
          <p:spPr>
            <a:xfrm>
              <a:off x="2245155" y="1222700"/>
              <a:ext cx="522600" cy="658550"/>
            </a:xfrm>
            <a:custGeom>
              <a:avLst/>
              <a:gdLst/>
              <a:ahLst/>
              <a:cxnLst/>
              <a:rect l="l" t="t" r="r" b="b"/>
              <a:pathLst>
                <a:path w="20904" h="26342" extrusionOk="0">
                  <a:moveTo>
                    <a:pt x="1" y="1"/>
                  </a:moveTo>
                  <a:lnTo>
                    <a:pt x="8622" y="26342"/>
                  </a:lnTo>
                  <a:lnTo>
                    <a:pt x="20903" y="26342"/>
                  </a:lnTo>
                  <a:lnTo>
                    <a:pt x="12257" y="1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7" name="Google Shape;2368;p35">
              <a:extLst>
                <a:ext uri="{FF2B5EF4-FFF2-40B4-BE49-F238E27FC236}">
                  <a16:creationId xmlns:a16="http://schemas.microsoft.com/office/drawing/2014/main" id="{6B00D787-25E3-B2F1-C0FE-3F92FB8F9088}"/>
                </a:ext>
              </a:extLst>
            </p:cNvPr>
            <p:cNvSpPr/>
            <p:nvPr/>
          </p:nvSpPr>
          <p:spPr>
            <a:xfrm>
              <a:off x="2055305" y="1222700"/>
              <a:ext cx="349650" cy="658550"/>
            </a:xfrm>
            <a:custGeom>
              <a:avLst/>
              <a:gdLst/>
              <a:ahLst/>
              <a:cxnLst/>
              <a:rect l="l" t="t" r="r" b="b"/>
              <a:pathLst>
                <a:path w="13986" h="26342" extrusionOk="0">
                  <a:moveTo>
                    <a:pt x="1" y="1"/>
                  </a:moveTo>
                  <a:lnTo>
                    <a:pt x="8622" y="26342"/>
                  </a:lnTo>
                  <a:lnTo>
                    <a:pt x="13986" y="26342"/>
                  </a:lnTo>
                  <a:lnTo>
                    <a:pt x="5339" y="1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8" name="Google Shape;2369;p35">
              <a:extLst>
                <a:ext uri="{FF2B5EF4-FFF2-40B4-BE49-F238E27FC236}">
                  <a16:creationId xmlns:a16="http://schemas.microsoft.com/office/drawing/2014/main" id="{AE5BA4FB-65D0-BBD1-B2B1-BAFB82ED9F94}"/>
                </a:ext>
              </a:extLst>
            </p:cNvPr>
            <p:cNvSpPr/>
            <p:nvPr/>
          </p:nvSpPr>
          <p:spPr>
            <a:xfrm>
              <a:off x="1982005" y="2114325"/>
              <a:ext cx="1053300" cy="739375"/>
            </a:xfrm>
            <a:custGeom>
              <a:avLst/>
              <a:gdLst/>
              <a:ahLst/>
              <a:cxnLst/>
              <a:rect l="l" t="t" r="r" b="b"/>
              <a:pathLst>
                <a:path w="42132" h="29575" extrusionOk="0">
                  <a:moveTo>
                    <a:pt x="3209" y="0"/>
                  </a:moveTo>
                  <a:cubicBezTo>
                    <a:pt x="1429" y="0"/>
                    <a:pt x="0" y="1429"/>
                    <a:pt x="0" y="3208"/>
                  </a:cubicBezTo>
                  <a:lnTo>
                    <a:pt x="0" y="29574"/>
                  </a:lnTo>
                  <a:cubicBezTo>
                    <a:pt x="0" y="27795"/>
                    <a:pt x="1429" y="26341"/>
                    <a:pt x="3209" y="26341"/>
                  </a:cubicBezTo>
                  <a:lnTo>
                    <a:pt x="34537" y="26341"/>
                  </a:lnTo>
                  <a:lnTo>
                    <a:pt x="42131" y="13158"/>
                  </a:lnTo>
                  <a:lnTo>
                    <a:pt x="34537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69" name="Google Shape;2370;p35">
              <a:extLst>
                <a:ext uri="{FF2B5EF4-FFF2-40B4-BE49-F238E27FC236}">
                  <a16:creationId xmlns:a16="http://schemas.microsoft.com/office/drawing/2014/main" id="{C590C844-8CB0-9586-51E4-3D45AFC03F04}"/>
                </a:ext>
              </a:extLst>
            </p:cNvPr>
            <p:cNvSpPr/>
            <p:nvPr/>
          </p:nvSpPr>
          <p:spPr>
            <a:xfrm>
              <a:off x="2245155" y="2114325"/>
              <a:ext cx="522600" cy="658550"/>
            </a:xfrm>
            <a:custGeom>
              <a:avLst/>
              <a:gdLst/>
              <a:ahLst/>
              <a:cxnLst/>
              <a:rect l="l" t="t" r="r" b="b"/>
              <a:pathLst>
                <a:path w="20904" h="26342" extrusionOk="0">
                  <a:moveTo>
                    <a:pt x="1" y="0"/>
                  </a:moveTo>
                  <a:lnTo>
                    <a:pt x="8622" y="26341"/>
                  </a:lnTo>
                  <a:lnTo>
                    <a:pt x="20903" y="26341"/>
                  </a:lnTo>
                  <a:lnTo>
                    <a:pt x="12257" y="0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0" name="Google Shape;2371;p35">
              <a:extLst>
                <a:ext uri="{FF2B5EF4-FFF2-40B4-BE49-F238E27FC236}">
                  <a16:creationId xmlns:a16="http://schemas.microsoft.com/office/drawing/2014/main" id="{7EF9FA45-DFB2-3F62-D374-D3E0B88FA10A}"/>
                </a:ext>
              </a:extLst>
            </p:cNvPr>
            <p:cNvSpPr/>
            <p:nvPr/>
          </p:nvSpPr>
          <p:spPr>
            <a:xfrm>
              <a:off x="2055305" y="2114325"/>
              <a:ext cx="349650" cy="658550"/>
            </a:xfrm>
            <a:custGeom>
              <a:avLst/>
              <a:gdLst/>
              <a:ahLst/>
              <a:cxnLst/>
              <a:rect l="l" t="t" r="r" b="b"/>
              <a:pathLst>
                <a:path w="13986" h="26342" extrusionOk="0">
                  <a:moveTo>
                    <a:pt x="1" y="0"/>
                  </a:moveTo>
                  <a:lnTo>
                    <a:pt x="8622" y="26341"/>
                  </a:lnTo>
                  <a:lnTo>
                    <a:pt x="13986" y="26341"/>
                  </a:lnTo>
                  <a:lnTo>
                    <a:pt x="5339" y="0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1" name="Google Shape;2372;p35">
              <a:extLst>
                <a:ext uri="{FF2B5EF4-FFF2-40B4-BE49-F238E27FC236}">
                  <a16:creationId xmlns:a16="http://schemas.microsoft.com/office/drawing/2014/main" id="{E4CFB732-AF89-60C7-E3E9-30C9E50A6B40}"/>
                </a:ext>
              </a:extLst>
            </p:cNvPr>
            <p:cNvSpPr/>
            <p:nvPr/>
          </p:nvSpPr>
          <p:spPr>
            <a:xfrm>
              <a:off x="1982005" y="3005925"/>
              <a:ext cx="1053300" cy="739375"/>
            </a:xfrm>
            <a:custGeom>
              <a:avLst/>
              <a:gdLst/>
              <a:ahLst/>
              <a:cxnLst/>
              <a:rect l="l" t="t" r="r" b="b"/>
              <a:pathLst>
                <a:path w="42132" h="29575" extrusionOk="0">
                  <a:moveTo>
                    <a:pt x="3209" y="0"/>
                  </a:moveTo>
                  <a:cubicBezTo>
                    <a:pt x="1429" y="0"/>
                    <a:pt x="0" y="1429"/>
                    <a:pt x="0" y="3209"/>
                  </a:cubicBezTo>
                  <a:lnTo>
                    <a:pt x="0" y="29575"/>
                  </a:lnTo>
                  <a:cubicBezTo>
                    <a:pt x="0" y="27795"/>
                    <a:pt x="1429" y="26341"/>
                    <a:pt x="3209" y="26341"/>
                  </a:cubicBezTo>
                  <a:lnTo>
                    <a:pt x="34537" y="26341"/>
                  </a:lnTo>
                  <a:lnTo>
                    <a:pt x="42131" y="13158"/>
                  </a:lnTo>
                  <a:lnTo>
                    <a:pt x="34537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2373;p35">
              <a:extLst>
                <a:ext uri="{FF2B5EF4-FFF2-40B4-BE49-F238E27FC236}">
                  <a16:creationId xmlns:a16="http://schemas.microsoft.com/office/drawing/2014/main" id="{BBD7D4D0-0EC4-F277-E117-5CF42B293912}"/>
                </a:ext>
              </a:extLst>
            </p:cNvPr>
            <p:cNvSpPr/>
            <p:nvPr/>
          </p:nvSpPr>
          <p:spPr>
            <a:xfrm>
              <a:off x="2245155" y="3005925"/>
              <a:ext cx="522600" cy="658550"/>
            </a:xfrm>
            <a:custGeom>
              <a:avLst/>
              <a:gdLst/>
              <a:ahLst/>
              <a:cxnLst/>
              <a:rect l="l" t="t" r="r" b="b"/>
              <a:pathLst>
                <a:path w="20904" h="26342" extrusionOk="0">
                  <a:moveTo>
                    <a:pt x="1" y="0"/>
                  </a:moveTo>
                  <a:lnTo>
                    <a:pt x="8622" y="26341"/>
                  </a:lnTo>
                  <a:lnTo>
                    <a:pt x="20903" y="26341"/>
                  </a:lnTo>
                  <a:lnTo>
                    <a:pt x="12257" y="0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3" name="Google Shape;2374;p35">
              <a:extLst>
                <a:ext uri="{FF2B5EF4-FFF2-40B4-BE49-F238E27FC236}">
                  <a16:creationId xmlns:a16="http://schemas.microsoft.com/office/drawing/2014/main" id="{97D096A3-CEEA-13E7-E402-A9F0ADD53B84}"/>
                </a:ext>
              </a:extLst>
            </p:cNvPr>
            <p:cNvSpPr/>
            <p:nvPr/>
          </p:nvSpPr>
          <p:spPr>
            <a:xfrm>
              <a:off x="2055305" y="3005925"/>
              <a:ext cx="349650" cy="658550"/>
            </a:xfrm>
            <a:custGeom>
              <a:avLst/>
              <a:gdLst/>
              <a:ahLst/>
              <a:cxnLst/>
              <a:rect l="l" t="t" r="r" b="b"/>
              <a:pathLst>
                <a:path w="13986" h="26342" extrusionOk="0">
                  <a:moveTo>
                    <a:pt x="1" y="0"/>
                  </a:moveTo>
                  <a:lnTo>
                    <a:pt x="8622" y="26341"/>
                  </a:lnTo>
                  <a:lnTo>
                    <a:pt x="13986" y="26341"/>
                  </a:lnTo>
                  <a:lnTo>
                    <a:pt x="5339" y="0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4" name="Google Shape;2375;p35">
              <a:extLst>
                <a:ext uri="{FF2B5EF4-FFF2-40B4-BE49-F238E27FC236}">
                  <a16:creationId xmlns:a16="http://schemas.microsoft.com/office/drawing/2014/main" id="{5E593BCF-F869-1CBC-EFC8-E11809092FDC}"/>
                </a:ext>
              </a:extLst>
            </p:cNvPr>
            <p:cNvSpPr/>
            <p:nvPr/>
          </p:nvSpPr>
          <p:spPr>
            <a:xfrm>
              <a:off x="1982005" y="3897525"/>
              <a:ext cx="1053300" cy="739375"/>
            </a:xfrm>
            <a:custGeom>
              <a:avLst/>
              <a:gdLst/>
              <a:ahLst/>
              <a:cxnLst/>
              <a:rect l="l" t="t" r="r" b="b"/>
              <a:pathLst>
                <a:path w="42132" h="29575" extrusionOk="0">
                  <a:moveTo>
                    <a:pt x="3209" y="1"/>
                  </a:moveTo>
                  <a:cubicBezTo>
                    <a:pt x="1429" y="1"/>
                    <a:pt x="0" y="1429"/>
                    <a:pt x="0" y="3209"/>
                  </a:cubicBezTo>
                  <a:lnTo>
                    <a:pt x="0" y="29575"/>
                  </a:lnTo>
                  <a:cubicBezTo>
                    <a:pt x="0" y="27795"/>
                    <a:pt x="1429" y="26342"/>
                    <a:pt x="3209" y="26342"/>
                  </a:cubicBezTo>
                  <a:lnTo>
                    <a:pt x="34537" y="26342"/>
                  </a:lnTo>
                  <a:lnTo>
                    <a:pt x="42131" y="13159"/>
                  </a:lnTo>
                  <a:lnTo>
                    <a:pt x="34537" y="1"/>
                  </a:lnTo>
                  <a:close/>
                </a:path>
              </a:pathLst>
            </a:custGeom>
            <a:solidFill>
              <a:srgbClr val="02BB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5" name="Google Shape;2376;p35">
              <a:extLst>
                <a:ext uri="{FF2B5EF4-FFF2-40B4-BE49-F238E27FC236}">
                  <a16:creationId xmlns:a16="http://schemas.microsoft.com/office/drawing/2014/main" id="{5F5C6654-0FB8-E0E6-72A7-9EFA0249ADF4}"/>
                </a:ext>
              </a:extLst>
            </p:cNvPr>
            <p:cNvSpPr/>
            <p:nvPr/>
          </p:nvSpPr>
          <p:spPr>
            <a:xfrm>
              <a:off x="2245155" y="3897525"/>
              <a:ext cx="522600" cy="658550"/>
            </a:xfrm>
            <a:custGeom>
              <a:avLst/>
              <a:gdLst/>
              <a:ahLst/>
              <a:cxnLst/>
              <a:rect l="l" t="t" r="r" b="b"/>
              <a:pathLst>
                <a:path w="20904" h="26342" extrusionOk="0">
                  <a:moveTo>
                    <a:pt x="1" y="1"/>
                  </a:moveTo>
                  <a:lnTo>
                    <a:pt x="8622" y="26342"/>
                  </a:lnTo>
                  <a:lnTo>
                    <a:pt x="20903" y="26342"/>
                  </a:lnTo>
                  <a:lnTo>
                    <a:pt x="12257" y="1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6" name="Google Shape;2377;p35">
              <a:extLst>
                <a:ext uri="{FF2B5EF4-FFF2-40B4-BE49-F238E27FC236}">
                  <a16:creationId xmlns:a16="http://schemas.microsoft.com/office/drawing/2014/main" id="{4C31E88C-FBF5-A740-7CC3-A63F96EF69AD}"/>
                </a:ext>
              </a:extLst>
            </p:cNvPr>
            <p:cNvSpPr/>
            <p:nvPr/>
          </p:nvSpPr>
          <p:spPr>
            <a:xfrm>
              <a:off x="2055305" y="3897525"/>
              <a:ext cx="349650" cy="658550"/>
            </a:xfrm>
            <a:custGeom>
              <a:avLst/>
              <a:gdLst/>
              <a:ahLst/>
              <a:cxnLst/>
              <a:rect l="l" t="t" r="r" b="b"/>
              <a:pathLst>
                <a:path w="13986" h="26342" extrusionOk="0">
                  <a:moveTo>
                    <a:pt x="1" y="1"/>
                  </a:moveTo>
                  <a:lnTo>
                    <a:pt x="8622" y="26342"/>
                  </a:lnTo>
                  <a:lnTo>
                    <a:pt x="13986" y="26342"/>
                  </a:lnTo>
                  <a:lnTo>
                    <a:pt x="5339" y="1"/>
                  </a:lnTo>
                  <a:close/>
                </a:path>
              </a:pathLst>
            </a:custGeom>
            <a:solidFill>
              <a:srgbClr val="FFFFFF">
                <a:alpha val="303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7" name="Google Shape;2378;p35">
              <a:extLst>
                <a:ext uri="{FF2B5EF4-FFF2-40B4-BE49-F238E27FC236}">
                  <a16:creationId xmlns:a16="http://schemas.microsoft.com/office/drawing/2014/main" id="{2B1CD1C0-FDE5-71C8-9D21-C44DF5AF6F66}"/>
                </a:ext>
              </a:extLst>
            </p:cNvPr>
            <p:cNvSpPr/>
            <p:nvPr/>
          </p:nvSpPr>
          <p:spPr>
            <a:xfrm>
              <a:off x="2391780" y="1324200"/>
              <a:ext cx="522575" cy="453050"/>
            </a:xfrm>
            <a:custGeom>
              <a:avLst/>
              <a:gdLst/>
              <a:ahLst/>
              <a:cxnLst/>
              <a:rect l="l" t="t" r="r" b="b"/>
              <a:pathLst>
                <a:path w="20903" h="18122" extrusionOk="0">
                  <a:moveTo>
                    <a:pt x="5239" y="1"/>
                  </a:moveTo>
                  <a:lnTo>
                    <a:pt x="1" y="9049"/>
                  </a:lnTo>
                  <a:lnTo>
                    <a:pt x="5239" y="18121"/>
                  </a:lnTo>
                  <a:lnTo>
                    <a:pt x="15690" y="18121"/>
                  </a:lnTo>
                  <a:lnTo>
                    <a:pt x="20903" y="9049"/>
                  </a:lnTo>
                  <a:lnTo>
                    <a:pt x="15690" y="1"/>
                  </a:lnTo>
                  <a:close/>
                </a:path>
              </a:pathLst>
            </a:custGeom>
            <a:solidFill>
              <a:srgbClr val="FFFFFF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400" b="0" i="0" u="none" strike="noStrike" kern="0" cap="none" spc="0" normalizeH="0" baseline="0" noProof="0">
                  <a:ln>
                    <a:noFill/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uLnTx/>
                <a:uFillTx/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78" name="Google Shape;2379;p35">
              <a:extLst>
                <a:ext uri="{FF2B5EF4-FFF2-40B4-BE49-F238E27FC236}">
                  <a16:creationId xmlns:a16="http://schemas.microsoft.com/office/drawing/2014/main" id="{980D905B-CFAC-D8FE-8A7C-1A20B64CE19E}"/>
                </a:ext>
              </a:extLst>
            </p:cNvPr>
            <p:cNvSpPr/>
            <p:nvPr/>
          </p:nvSpPr>
          <p:spPr>
            <a:xfrm>
              <a:off x="2391780" y="1324200"/>
              <a:ext cx="167325" cy="453050"/>
            </a:xfrm>
            <a:custGeom>
              <a:avLst/>
              <a:gdLst/>
              <a:ahLst/>
              <a:cxnLst/>
              <a:rect l="l" t="t" r="r" b="b"/>
              <a:pathLst>
                <a:path w="6693" h="18122" extrusionOk="0">
                  <a:moveTo>
                    <a:pt x="5239" y="1"/>
                  </a:moveTo>
                  <a:lnTo>
                    <a:pt x="1" y="9049"/>
                  </a:lnTo>
                  <a:lnTo>
                    <a:pt x="5239" y="18121"/>
                  </a:lnTo>
                  <a:lnTo>
                    <a:pt x="6692" y="18121"/>
                  </a:lnTo>
                  <a:lnTo>
                    <a:pt x="1454" y="9049"/>
                  </a:lnTo>
                  <a:lnTo>
                    <a:pt x="6692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9" name="Google Shape;2380;p35">
              <a:extLst>
                <a:ext uri="{FF2B5EF4-FFF2-40B4-BE49-F238E27FC236}">
                  <a16:creationId xmlns:a16="http://schemas.microsoft.com/office/drawing/2014/main" id="{37461D8F-0A73-7347-3FE2-E408C36A9D75}"/>
                </a:ext>
              </a:extLst>
            </p:cNvPr>
            <p:cNvSpPr/>
            <p:nvPr/>
          </p:nvSpPr>
          <p:spPr>
            <a:xfrm>
              <a:off x="2391780" y="2215825"/>
              <a:ext cx="522575" cy="453025"/>
            </a:xfrm>
            <a:custGeom>
              <a:avLst/>
              <a:gdLst/>
              <a:ahLst/>
              <a:cxnLst/>
              <a:rect l="l" t="t" r="r" b="b"/>
              <a:pathLst>
                <a:path w="20903" h="18121" extrusionOk="0">
                  <a:moveTo>
                    <a:pt x="5239" y="0"/>
                  </a:moveTo>
                  <a:lnTo>
                    <a:pt x="1" y="9048"/>
                  </a:lnTo>
                  <a:lnTo>
                    <a:pt x="5239" y="18121"/>
                  </a:lnTo>
                  <a:lnTo>
                    <a:pt x="15690" y="18121"/>
                  </a:lnTo>
                  <a:lnTo>
                    <a:pt x="20903" y="9048"/>
                  </a:lnTo>
                  <a:lnTo>
                    <a:pt x="156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75000"/>
                    </a:schemeClr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0" name="Google Shape;2381;p35">
              <a:extLst>
                <a:ext uri="{FF2B5EF4-FFF2-40B4-BE49-F238E27FC236}">
                  <a16:creationId xmlns:a16="http://schemas.microsoft.com/office/drawing/2014/main" id="{6D93E3D2-A508-4F27-759A-9D76B00A0756}"/>
                </a:ext>
              </a:extLst>
            </p:cNvPr>
            <p:cNvSpPr/>
            <p:nvPr/>
          </p:nvSpPr>
          <p:spPr>
            <a:xfrm>
              <a:off x="2391780" y="3107425"/>
              <a:ext cx="522575" cy="452400"/>
            </a:xfrm>
            <a:custGeom>
              <a:avLst/>
              <a:gdLst/>
              <a:ahLst/>
              <a:cxnLst/>
              <a:rect l="l" t="t" r="r" b="b"/>
              <a:pathLst>
                <a:path w="20903" h="18096" extrusionOk="0">
                  <a:moveTo>
                    <a:pt x="5239" y="1"/>
                  </a:moveTo>
                  <a:lnTo>
                    <a:pt x="1" y="9048"/>
                  </a:lnTo>
                  <a:lnTo>
                    <a:pt x="5239" y="18096"/>
                  </a:lnTo>
                  <a:lnTo>
                    <a:pt x="15690" y="18096"/>
                  </a:lnTo>
                  <a:lnTo>
                    <a:pt x="20903" y="9048"/>
                  </a:lnTo>
                  <a:lnTo>
                    <a:pt x="156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1" name="Google Shape;2382;p35">
              <a:extLst>
                <a:ext uri="{FF2B5EF4-FFF2-40B4-BE49-F238E27FC236}">
                  <a16:creationId xmlns:a16="http://schemas.microsoft.com/office/drawing/2014/main" id="{6AB9A526-A240-9061-2007-4F90BD9B899D}"/>
                </a:ext>
              </a:extLst>
            </p:cNvPr>
            <p:cNvSpPr/>
            <p:nvPr/>
          </p:nvSpPr>
          <p:spPr>
            <a:xfrm>
              <a:off x="2391780" y="3999050"/>
              <a:ext cx="522575" cy="452400"/>
            </a:xfrm>
            <a:custGeom>
              <a:avLst/>
              <a:gdLst/>
              <a:ahLst/>
              <a:cxnLst/>
              <a:rect l="l" t="t" r="r" b="b"/>
              <a:pathLst>
                <a:path w="20903" h="18096" extrusionOk="0">
                  <a:moveTo>
                    <a:pt x="5239" y="0"/>
                  </a:moveTo>
                  <a:lnTo>
                    <a:pt x="1" y="9048"/>
                  </a:lnTo>
                  <a:lnTo>
                    <a:pt x="5239" y="18095"/>
                  </a:lnTo>
                  <a:lnTo>
                    <a:pt x="15690" y="18095"/>
                  </a:lnTo>
                  <a:lnTo>
                    <a:pt x="20903" y="9048"/>
                  </a:lnTo>
                  <a:lnTo>
                    <a:pt x="156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  <a:tabLst/>
                <a:defRPr/>
              </a:pPr>
              <a:r>
                <a:rPr kumimoji="0" lang="en" sz="2400" b="0" i="0" u="none" strike="noStrike" kern="0" cap="none" spc="0" normalizeH="0" baseline="0" noProof="0">
                  <a:ln>
                    <a:noFill/>
                  </a:ln>
                  <a:solidFill>
                    <a:srgbClr val="02BBD6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2BBD6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2" name="Google Shape;2383;p35">
              <a:extLst>
                <a:ext uri="{FF2B5EF4-FFF2-40B4-BE49-F238E27FC236}">
                  <a16:creationId xmlns:a16="http://schemas.microsoft.com/office/drawing/2014/main" id="{E44A069F-D6EA-DBBE-4A7E-E5986DC3F940}"/>
                </a:ext>
              </a:extLst>
            </p:cNvPr>
            <p:cNvSpPr/>
            <p:nvPr/>
          </p:nvSpPr>
          <p:spPr>
            <a:xfrm>
              <a:off x="2391780" y="2215825"/>
              <a:ext cx="167325" cy="453025"/>
            </a:xfrm>
            <a:custGeom>
              <a:avLst/>
              <a:gdLst/>
              <a:ahLst/>
              <a:cxnLst/>
              <a:rect l="l" t="t" r="r" b="b"/>
              <a:pathLst>
                <a:path w="6693" h="18121" extrusionOk="0">
                  <a:moveTo>
                    <a:pt x="5239" y="0"/>
                  </a:moveTo>
                  <a:lnTo>
                    <a:pt x="1" y="9048"/>
                  </a:lnTo>
                  <a:lnTo>
                    <a:pt x="5239" y="18121"/>
                  </a:lnTo>
                  <a:lnTo>
                    <a:pt x="6692" y="18121"/>
                  </a:lnTo>
                  <a:lnTo>
                    <a:pt x="1454" y="9048"/>
                  </a:lnTo>
                  <a:lnTo>
                    <a:pt x="6692" y="0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3" name="Google Shape;2384;p35">
              <a:extLst>
                <a:ext uri="{FF2B5EF4-FFF2-40B4-BE49-F238E27FC236}">
                  <a16:creationId xmlns:a16="http://schemas.microsoft.com/office/drawing/2014/main" id="{3D48FD5F-4217-F5CE-EBA7-42BCC46B9018}"/>
                </a:ext>
              </a:extLst>
            </p:cNvPr>
            <p:cNvSpPr/>
            <p:nvPr/>
          </p:nvSpPr>
          <p:spPr>
            <a:xfrm>
              <a:off x="2391780" y="3108675"/>
              <a:ext cx="167325" cy="453050"/>
            </a:xfrm>
            <a:custGeom>
              <a:avLst/>
              <a:gdLst/>
              <a:ahLst/>
              <a:cxnLst/>
              <a:rect l="l" t="t" r="r" b="b"/>
              <a:pathLst>
                <a:path w="6693" h="18122" extrusionOk="0">
                  <a:moveTo>
                    <a:pt x="5239" y="1"/>
                  </a:moveTo>
                  <a:lnTo>
                    <a:pt x="1" y="9048"/>
                  </a:lnTo>
                  <a:lnTo>
                    <a:pt x="5239" y="18121"/>
                  </a:lnTo>
                  <a:lnTo>
                    <a:pt x="6692" y="18121"/>
                  </a:lnTo>
                  <a:lnTo>
                    <a:pt x="1454" y="9048"/>
                  </a:lnTo>
                  <a:lnTo>
                    <a:pt x="6692" y="1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4" name="Google Shape;2385;p35">
              <a:extLst>
                <a:ext uri="{FF2B5EF4-FFF2-40B4-BE49-F238E27FC236}">
                  <a16:creationId xmlns:a16="http://schemas.microsoft.com/office/drawing/2014/main" id="{0836369F-A75A-18BA-1CA6-8C0F9AE84E47}"/>
                </a:ext>
              </a:extLst>
            </p:cNvPr>
            <p:cNvSpPr/>
            <p:nvPr/>
          </p:nvSpPr>
          <p:spPr>
            <a:xfrm>
              <a:off x="2391780" y="3999050"/>
              <a:ext cx="167325" cy="452400"/>
            </a:xfrm>
            <a:custGeom>
              <a:avLst/>
              <a:gdLst/>
              <a:ahLst/>
              <a:cxnLst/>
              <a:rect l="l" t="t" r="r" b="b"/>
              <a:pathLst>
                <a:path w="6693" h="18096" extrusionOk="0">
                  <a:moveTo>
                    <a:pt x="5239" y="0"/>
                  </a:moveTo>
                  <a:lnTo>
                    <a:pt x="1" y="9048"/>
                  </a:lnTo>
                  <a:lnTo>
                    <a:pt x="5239" y="18095"/>
                  </a:lnTo>
                  <a:lnTo>
                    <a:pt x="6692" y="18095"/>
                  </a:lnTo>
                  <a:lnTo>
                    <a:pt x="1454" y="9048"/>
                  </a:lnTo>
                  <a:lnTo>
                    <a:pt x="6692" y="0"/>
                  </a:lnTo>
                  <a:close/>
                </a:path>
              </a:pathLst>
            </a:custGeom>
            <a:solidFill>
              <a:srgbClr val="595959">
                <a:alpha val="419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5" name="Google Shape;2386;p35">
              <a:extLst>
                <a:ext uri="{FF2B5EF4-FFF2-40B4-BE49-F238E27FC236}">
                  <a16:creationId xmlns:a16="http://schemas.microsoft.com/office/drawing/2014/main" id="{F49D27ED-06AA-DCC3-1799-78D4EC6D5F93}"/>
                </a:ext>
              </a:extLst>
            </p:cNvPr>
            <p:cNvSpPr/>
            <p:nvPr/>
          </p:nvSpPr>
          <p:spPr>
            <a:xfrm>
              <a:off x="1580380" y="1550400"/>
              <a:ext cx="25" cy="2674850"/>
            </a:xfrm>
            <a:custGeom>
              <a:avLst/>
              <a:gdLst/>
              <a:ahLst/>
              <a:cxnLst/>
              <a:rect l="l" t="t" r="r" b="b"/>
              <a:pathLst>
                <a:path w="1" h="106994" fill="none" extrusionOk="0">
                  <a:moveTo>
                    <a:pt x="0" y="1"/>
                  </a:moveTo>
                  <a:lnTo>
                    <a:pt x="0" y="106994"/>
                  </a:lnTo>
                </a:path>
              </a:pathLst>
            </a:custGeom>
            <a:noFill/>
            <a:ln w="20675" cap="rnd" cmpd="sng">
              <a:solidFill>
                <a:srgbClr val="EBEB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6" name="Google Shape;2387;p35">
              <a:extLst>
                <a:ext uri="{FF2B5EF4-FFF2-40B4-BE49-F238E27FC236}">
                  <a16:creationId xmlns:a16="http://schemas.microsoft.com/office/drawing/2014/main" id="{2D90D22C-4954-1FC5-C93C-3500FB1609FB}"/>
                </a:ext>
              </a:extLst>
            </p:cNvPr>
            <p:cNvSpPr/>
            <p:nvPr/>
          </p:nvSpPr>
          <p:spPr>
            <a:xfrm>
              <a:off x="1430630" y="1400650"/>
              <a:ext cx="299525" cy="300150"/>
            </a:xfrm>
            <a:custGeom>
              <a:avLst/>
              <a:gdLst/>
              <a:ahLst/>
              <a:cxnLst/>
              <a:rect l="l" t="t" r="r" b="b"/>
              <a:pathLst>
                <a:path w="11981" h="12006" extrusionOk="0">
                  <a:moveTo>
                    <a:pt x="5990" y="1"/>
                  </a:moveTo>
                  <a:cubicBezTo>
                    <a:pt x="2682" y="1"/>
                    <a:pt x="0" y="2682"/>
                    <a:pt x="0" y="5991"/>
                  </a:cubicBezTo>
                  <a:cubicBezTo>
                    <a:pt x="0" y="9299"/>
                    <a:pt x="2682" y="12006"/>
                    <a:pt x="5990" y="12006"/>
                  </a:cubicBezTo>
                  <a:cubicBezTo>
                    <a:pt x="9299" y="12006"/>
                    <a:pt x="11980" y="9299"/>
                    <a:pt x="11980" y="5991"/>
                  </a:cubicBezTo>
                  <a:cubicBezTo>
                    <a:pt x="11980" y="2682"/>
                    <a:pt x="9299" y="1"/>
                    <a:pt x="5990" y="1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7" name="Google Shape;2388;p35">
              <a:extLst>
                <a:ext uri="{FF2B5EF4-FFF2-40B4-BE49-F238E27FC236}">
                  <a16:creationId xmlns:a16="http://schemas.microsoft.com/office/drawing/2014/main" id="{81F1B61F-960D-70EE-D02C-CE78B2ECE258}"/>
                </a:ext>
              </a:extLst>
            </p:cNvPr>
            <p:cNvSpPr/>
            <p:nvPr/>
          </p:nvSpPr>
          <p:spPr>
            <a:xfrm>
              <a:off x="1430630" y="2292250"/>
              <a:ext cx="299525" cy="299525"/>
            </a:xfrm>
            <a:custGeom>
              <a:avLst/>
              <a:gdLst/>
              <a:ahLst/>
              <a:cxnLst/>
              <a:rect l="l" t="t" r="r" b="b"/>
              <a:pathLst>
                <a:path w="11981" h="11981" extrusionOk="0">
                  <a:moveTo>
                    <a:pt x="5990" y="1"/>
                  </a:moveTo>
                  <a:cubicBezTo>
                    <a:pt x="2682" y="1"/>
                    <a:pt x="0" y="2683"/>
                    <a:pt x="0" y="5991"/>
                  </a:cubicBezTo>
                  <a:cubicBezTo>
                    <a:pt x="0" y="9299"/>
                    <a:pt x="2682" y="11981"/>
                    <a:pt x="5990" y="11981"/>
                  </a:cubicBezTo>
                  <a:cubicBezTo>
                    <a:pt x="9299" y="11981"/>
                    <a:pt x="11980" y="9299"/>
                    <a:pt x="11980" y="5991"/>
                  </a:cubicBezTo>
                  <a:cubicBezTo>
                    <a:pt x="11980" y="2683"/>
                    <a:pt x="9299" y="1"/>
                    <a:pt x="5990" y="1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8" name="Google Shape;2389;p35">
              <a:extLst>
                <a:ext uri="{FF2B5EF4-FFF2-40B4-BE49-F238E27FC236}">
                  <a16:creationId xmlns:a16="http://schemas.microsoft.com/office/drawing/2014/main" id="{2673C899-DFAA-5FF8-ED17-B86F916B6653}"/>
                </a:ext>
              </a:extLst>
            </p:cNvPr>
            <p:cNvSpPr/>
            <p:nvPr/>
          </p:nvSpPr>
          <p:spPr>
            <a:xfrm>
              <a:off x="1430630" y="3183875"/>
              <a:ext cx="299525" cy="299525"/>
            </a:xfrm>
            <a:custGeom>
              <a:avLst/>
              <a:gdLst/>
              <a:ahLst/>
              <a:cxnLst/>
              <a:rect l="l" t="t" r="r" b="b"/>
              <a:pathLst>
                <a:path w="11981" h="11981" extrusionOk="0">
                  <a:moveTo>
                    <a:pt x="5990" y="0"/>
                  </a:moveTo>
                  <a:cubicBezTo>
                    <a:pt x="2682" y="0"/>
                    <a:pt x="0" y="2682"/>
                    <a:pt x="0" y="5990"/>
                  </a:cubicBezTo>
                  <a:cubicBezTo>
                    <a:pt x="0" y="9299"/>
                    <a:pt x="2682" y="11980"/>
                    <a:pt x="5990" y="11980"/>
                  </a:cubicBezTo>
                  <a:cubicBezTo>
                    <a:pt x="9299" y="11980"/>
                    <a:pt x="11980" y="9299"/>
                    <a:pt x="11980" y="5990"/>
                  </a:cubicBezTo>
                  <a:cubicBezTo>
                    <a:pt x="11980" y="2682"/>
                    <a:pt x="9299" y="0"/>
                    <a:pt x="599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89" name="Google Shape;2390;p35">
              <a:extLst>
                <a:ext uri="{FF2B5EF4-FFF2-40B4-BE49-F238E27FC236}">
                  <a16:creationId xmlns:a16="http://schemas.microsoft.com/office/drawing/2014/main" id="{4E411BF8-27D2-E37A-F093-DD5A8960564B}"/>
                </a:ext>
              </a:extLst>
            </p:cNvPr>
            <p:cNvSpPr/>
            <p:nvPr/>
          </p:nvSpPr>
          <p:spPr>
            <a:xfrm>
              <a:off x="1430630" y="4075475"/>
              <a:ext cx="299525" cy="299525"/>
            </a:xfrm>
            <a:custGeom>
              <a:avLst/>
              <a:gdLst/>
              <a:ahLst/>
              <a:cxnLst/>
              <a:rect l="l" t="t" r="r" b="b"/>
              <a:pathLst>
                <a:path w="11981" h="11981" extrusionOk="0">
                  <a:moveTo>
                    <a:pt x="5990" y="1"/>
                  </a:moveTo>
                  <a:cubicBezTo>
                    <a:pt x="2682" y="1"/>
                    <a:pt x="0" y="2682"/>
                    <a:pt x="0" y="5991"/>
                  </a:cubicBezTo>
                  <a:cubicBezTo>
                    <a:pt x="0" y="9299"/>
                    <a:pt x="2682" y="11981"/>
                    <a:pt x="5990" y="11981"/>
                  </a:cubicBezTo>
                  <a:cubicBezTo>
                    <a:pt x="9299" y="11981"/>
                    <a:pt x="11980" y="9299"/>
                    <a:pt x="11980" y="5991"/>
                  </a:cubicBezTo>
                  <a:cubicBezTo>
                    <a:pt x="11980" y="2682"/>
                    <a:pt x="9299" y="1"/>
                    <a:pt x="5990" y="1"/>
                  </a:cubicBezTo>
                  <a:close/>
                </a:path>
              </a:pathLst>
            </a:custGeom>
            <a:solidFill>
              <a:srgbClr val="02BB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90" name="Google Shape;2391;p35">
              <a:extLst>
                <a:ext uri="{FF2B5EF4-FFF2-40B4-BE49-F238E27FC236}">
                  <a16:creationId xmlns:a16="http://schemas.microsoft.com/office/drawing/2014/main" id="{F5307E19-9D26-6E1A-407F-1082C03EB7D7}"/>
                </a:ext>
              </a:extLst>
            </p:cNvPr>
            <p:cNvGrpSpPr/>
            <p:nvPr/>
          </p:nvGrpSpPr>
          <p:grpSpPr>
            <a:xfrm>
              <a:off x="3287150" y="1462725"/>
              <a:ext cx="5986800" cy="514538"/>
              <a:chOff x="3287150" y="1449013"/>
              <a:chExt cx="5986800" cy="514538"/>
            </a:xfrm>
          </p:grpSpPr>
          <p:sp>
            <p:nvSpPr>
              <p:cNvPr id="100" name="Google Shape;2392;p35">
                <a:extLst>
                  <a:ext uri="{FF2B5EF4-FFF2-40B4-BE49-F238E27FC236}">
                    <a16:creationId xmlns:a16="http://schemas.microsoft.com/office/drawing/2014/main" id="{50359551-7412-F261-1024-E3133DA00ED5}"/>
                  </a:ext>
                </a:extLst>
              </p:cNvPr>
              <p:cNvSpPr txBox="1"/>
              <p:nvPr/>
            </p:nvSpPr>
            <p:spPr>
              <a:xfrm>
                <a:off x="3287150" y="1700750"/>
                <a:ext cx="59868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s-419" sz="1200" kern="0" dirty="0">
                    <a:solidFill>
                      <a:srgbClr val="00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EDA -  Calculo de crecimiento histórico, análisis de volatilidad y estabilidad de series temporales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01" name="Google Shape;2393;p35">
                <a:extLst>
                  <a:ext uri="{FF2B5EF4-FFF2-40B4-BE49-F238E27FC236}">
                    <a16:creationId xmlns:a16="http://schemas.microsoft.com/office/drawing/2014/main" id="{1DD668A5-FA19-6E2B-F06E-7C1D6C660248}"/>
                  </a:ext>
                </a:extLst>
              </p:cNvPr>
              <p:cNvSpPr txBox="1"/>
              <p:nvPr/>
            </p:nvSpPr>
            <p:spPr>
              <a:xfrm>
                <a:off x="3287150" y="1449013"/>
                <a:ext cx="59868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s-US" sz="17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2">
                        <a:lumMod val="60000"/>
                        <a:lumOff val="40000"/>
                      </a:schemeClr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PREPARACIÓN DE DATOS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700" b="0" i="0" u="none" strike="noStrike" kern="0" cap="none" spc="0" normalizeH="0" baseline="0" noProof="0" dirty="0">
                  <a:ln>
                    <a:noFill/>
                  </a:ln>
                  <a:solidFill>
                    <a:srgbClr val="FBC016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91" name="Google Shape;2394;p35">
              <a:extLst>
                <a:ext uri="{FF2B5EF4-FFF2-40B4-BE49-F238E27FC236}">
                  <a16:creationId xmlns:a16="http://schemas.microsoft.com/office/drawing/2014/main" id="{33B956E8-40BE-83F5-8E51-98AFF55B21F5}"/>
                </a:ext>
              </a:extLst>
            </p:cNvPr>
            <p:cNvGrpSpPr/>
            <p:nvPr/>
          </p:nvGrpSpPr>
          <p:grpSpPr>
            <a:xfrm>
              <a:off x="3287150" y="2355050"/>
              <a:ext cx="5986800" cy="514538"/>
              <a:chOff x="3287150" y="1449013"/>
              <a:chExt cx="5986800" cy="514538"/>
            </a:xfrm>
          </p:grpSpPr>
          <p:sp>
            <p:nvSpPr>
              <p:cNvPr id="98" name="Google Shape;2395;p35">
                <a:extLst>
                  <a:ext uri="{FF2B5EF4-FFF2-40B4-BE49-F238E27FC236}">
                    <a16:creationId xmlns:a16="http://schemas.microsoft.com/office/drawing/2014/main" id="{E910590E-3BBE-19ED-0C80-1CDF23E85209}"/>
                  </a:ext>
                </a:extLst>
              </p:cNvPr>
              <p:cNvSpPr txBox="1"/>
              <p:nvPr/>
            </p:nvSpPr>
            <p:spPr>
              <a:xfrm>
                <a:off x="3287150" y="1700750"/>
                <a:ext cx="59868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s-419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Aplicación de modelos, generación de proyecciones, calculo de escenarios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9" name="Google Shape;2396;p35">
                <a:extLst>
                  <a:ext uri="{FF2B5EF4-FFF2-40B4-BE49-F238E27FC236}">
                    <a16:creationId xmlns:a16="http://schemas.microsoft.com/office/drawing/2014/main" id="{2DFD6751-87EF-7C86-7862-535E9334CEA1}"/>
                  </a:ext>
                </a:extLst>
              </p:cNvPr>
              <p:cNvSpPr txBox="1"/>
              <p:nvPr/>
            </p:nvSpPr>
            <p:spPr>
              <a:xfrm>
                <a:off x="3287150" y="1449013"/>
                <a:ext cx="59868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s-US" sz="17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3">
                        <a:lumMod val="75000"/>
                      </a:schemeClr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EJECUCIÓN DE MODELOS</a:t>
                </a:r>
              </a:p>
            </p:txBody>
          </p:sp>
        </p:grpSp>
        <p:grpSp>
          <p:nvGrpSpPr>
            <p:cNvPr id="92" name="Google Shape;2397;p35">
              <a:extLst>
                <a:ext uri="{FF2B5EF4-FFF2-40B4-BE49-F238E27FC236}">
                  <a16:creationId xmlns:a16="http://schemas.microsoft.com/office/drawing/2014/main" id="{FC57FF24-171F-C813-01FC-05A5B721189C}"/>
                </a:ext>
              </a:extLst>
            </p:cNvPr>
            <p:cNvGrpSpPr/>
            <p:nvPr/>
          </p:nvGrpSpPr>
          <p:grpSpPr>
            <a:xfrm>
              <a:off x="3287150" y="3256138"/>
              <a:ext cx="5986800" cy="514538"/>
              <a:chOff x="3287150" y="1449013"/>
              <a:chExt cx="5986800" cy="514538"/>
            </a:xfrm>
          </p:grpSpPr>
          <p:sp>
            <p:nvSpPr>
              <p:cNvPr id="96" name="Google Shape;2398;p35">
                <a:extLst>
                  <a:ext uri="{FF2B5EF4-FFF2-40B4-BE49-F238E27FC236}">
                    <a16:creationId xmlns:a16="http://schemas.microsoft.com/office/drawing/2014/main" id="{558ED86B-3F5B-8F78-A8AF-FD1B2430E192}"/>
                  </a:ext>
                </a:extLst>
              </p:cNvPr>
              <p:cNvSpPr txBox="1"/>
              <p:nvPr/>
            </p:nvSpPr>
            <p:spPr>
              <a:xfrm>
                <a:off x="3287150" y="1700750"/>
                <a:ext cx="59868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-US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Cálculo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 de 6 </a:t>
                </a:r>
                <a:r>
                  <a:rPr kumimoji="0" lang="en-US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métricas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 de </a:t>
                </a:r>
                <a:r>
                  <a:rPr kumimoji="0" lang="en-US" sz="12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precisión</a:t>
                </a:r>
                <a:r>
                  <a:rPr kumimoji="0" lang="en-US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: MAE, RMSE, MAPE, R², Bias, Estabilidad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s-CO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Score Multivariado con pesos calibrados y penalizaciones múltiples</a:t>
                </a:r>
              </a:p>
            </p:txBody>
          </p:sp>
          <p:sp>
            <p:nvSpPr>
              <p:cNvPr id="97" name="Google Shape;2399;p35">
                <a:extLst>
                  <a:ext uri="{FF2B5EF4-FFF2-40B4-BE49-F238E27FC236}">
                    <a16:creationId xmlns:a16="http://schemas.microsoft.com/office/drawing/2014/main" id="{76849E40-758D-33BE-EEC0-46F848515346}"/>
                  </a:ext>
                </a:extLst>
              </p:cNvPr>
              <p:cNvSpPr txBox="1"/>
              <p:nvPr/>
            </p:nvSpPr>
            <p:spPr>
              <a:xfrm>
                <a:off x="3287150" y="1449013"/>
                <a:ext cx="59868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s-US" sz="1700" b="1" i="0" u="none" strike="noStrike" kern="0" cap="none" spc="0" normalizeH="0" baseline="0" noProof="0" dirty="0">
                    <a:ln>
                      <a:noFill/>
                    </a:ln>
                    <a:solidFill>
                      <a:schemeClr val="accent1">
                        <a:lumMod val="75000"/>
                      </a:schemeClr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EVALUACIÓN DE MODELOS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700" b="0" i="0" u="none" strike="noStrike" kern="0" cap="none" spc="0" normalizeH="0" baseline="0" noProof="0" dirty="0">
                  <a:ln>
                    <a:noFill/>
                  </a:ln>
                  <a:solidFill>
                    <a:srgbClr val="EB3E35"/>
                  </a:solidFill>
                  <a:effectLst/>
                  <a:uLnTx/>
                  <a:uFillTx/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endParaRPr>
              </a:p>
            </p:txBody>
          </p:sp>
        </p:grpSp>
        <p:grpSp>
          <p:nvGrpSpPr>
            <p:cNvPr id="93" name="Google Shape;2400;p35">
              <a:extLst>
                <a:ext uri="{FF2B5EF4-FFF2-40B4-BE49-F238E27FC236}">
                  <a16:creationId xmlns:a16="http://schemas.microsoft.com/office/drawing/2014/main" id="{23747CE3-7F4D-7FB2-748C-42253EE94886}"/>
                </a:ext>
              </a:extLst>
            </p:cNvPr>
            <p:cNvGrpSpPr/>
            <p:nvPr/>
          </p:nvGrpSpPr>
          <p:grpSpPr>
            <a:xfrm>
              <a:off x="3287150" y="4157213"/>
              <a:ext cx="5986800" cy="514538"/>
              <a:chOff x="3287150" y="1449013"/>
              <a:chExt cx="5986800" cy="514538"/>
            </a:xfrm>
          </p:grpSpPr>
          <p:sp>
            <p:nvSpPr>
              <p:cNvPr id="94" name="Google Shape;2401;p35">
                <a:extLst>
                  <a:ext uri="{FF2B5EF4-FFF2-40B4-BE49-F238E27FC236}">
                    <a16:creationId xmlns:a16="http://schemas.microsoft.com/office/drawing/2014/main" id="{CC53168F-3A0C-EE6E-5E49-D85F0D1A6A3C}"/>
                  </a:ext>
                </a:extLst>
              </p:cNvPr>
              <p:cNvSpPr txBox="1"/>
              <p:nvPr/>
            </p:nvSpPr>
            <p:spPr>
              <a:xfrm>
                <a:off x="3287150" y="1700750"/>
                <a:ext cx="59868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Roboto"/>
                    <a:ea typeface="Roboto"/>
                    <a:cs typeface="Roboto"/>
                    <a:sym typeface="Roboto"/>
                  </a:rPr>
                  <a:t>Selección de modelos por score y validación cruzada</a:t>
                </a:r>
                <a:endParaRPr kumimoji="0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95" name="Google Shape;2402;p35">
                <a:extLst>
                  <a:ext uri="{FF2B5EF4-FFF2-40B4-BE49-F238E27FC236}">
                    <a16:creationId xmlns:a16="http://schemas.microsoft.com/office/drawing/2014/main" id="{1474AE65-18D2-1D24-61AC-58FCA4CA21B7}"/>
                  </a:ext>
                </a:extLst>
              </p:cNvPr>
              <p:cNvSpPr txBox="1"/>
              <p:nvPr/>
            </p:nvSpPr>
            <p:spPr>
              <a:xfrm>
                <a:off x="3287150" y="1449013"/>
                <a:ext cx="5986800" cy="26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kumimoji="0" lang="es-US" sz="1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2BBD6"/>
                    </a:solidFill>
                    <a:effectLst/>
                    <a:uLnTx/>
                    <a:uFillTx/>
                    <a:latin typeface="Fira Sans Extra Condensed Medium"/>
                    <a:ea typeface="Fira Sans Extra Condensed Medium"/>
                    <a:cs typeface="Fira Sans Extra Condensed Medium"/>
                    <a:sym typeface="Fira Sans Extra Condensed Medium"/>
                  </a:rPr>
                  <a:t>SELECCIÓN Y VISUALIZACIÓN</a:t>
                </a:r>
              </a:p>
            </p:txBody>
          </p:sp>
        </p:grpSp>
      </p:grpSp>
      <p:sp>
        <p:nvSpPr>
          <p:cNvPr id="103" name="Google Shape;2405;p35">
            <a:extLst>
              <a:ext uri="{FF2B5EF4-FFF2-40B4-BE49-F238E27FC236}">
                <a16:creationId xmlns:a16="http://schemas.microsoft.com/office/drawing/2014/main" id="{C2E42B86-823C-69E0-01B1-291D64FF75DB}"/>
              </a:ext>
            </a:extLst>
          </p:cNvPr>
          <p:cNvSpPr/>
          <p:nvPr/>
        </p:nvSpPr>
        <p:spPr>
          <a:xfrm>
            <a:off x="1037759" y="4745143"/>
            <a:ext cx="161675" cy="125350"/>
          </a:xfrm>
          <a:custGeom>
            <a:avLst/>
            <a:gdLst/>
            <a:ahLst/>
            <a:cxnLst/>
            <a:rect l="l" t="t" r="r" b="b"/>
            <a:pathLst>
              <a:path w="6467" h="5014" extrusionOk="0">
                <a:moveTo>
                  <a:pt x="5564" y="1"/>
                </a:moveTo>
                <a:lnTo>
                  <a:pt x="2331" y="3234"/>
                </a:lnTo>
                <a:lnTo>
                  <a:pt x="877" y="1805"/>
                </a:lnTo>
                <a:lnTo>
                  <a:pt x="0" y="2683"/>
                </a:lnTo>
                <a:lnTo>
                  <a:pt x="2331" y="5014"/>
                </a:lnTo>
                <a:lnTo>
                  <a:pt x="6466" y="878"/>
                </a:lnTo>
                <a:lnTo>
                  <a:pt x="556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400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105" name="Google Shape;2407;p35">
            <a:extLst>
              <a:ext uri="{FF2B5EF4-FFF2-40B4-BE49-F238E27FC236}">
                <a16:creationId xmlns:a16="http://schemas.microsoft.com/office/drawing/2014/main" id="{5C2B5B04-8425-B71D-A695-AD933DCF58AF}"/>
              </a:ext>
            </a:extLst>
          </p:cNvPr>
          <p:cNvGrpSpPr/>
          <p:nvPr/>
        </p:nvGrpSpPr>
        <p:grpSpPr>
          <a:xfrm>
            <a:off x="1056559" y="2065943"/>
            <a:ext cx="124075" cy="118450"/>
            <a:chOff x="1518355" y="1489000"/>
            <a:chExt cx="124075" cy="118450"/>
          </a:xfrm>
        </p:grpSpPr>
        <p:sp>
          <p:nvSpPr>
            <p:cNvPr id="106" name="Google Shape;2408;p35">
              <a:extLst>
                <a:ext uri="{FF2B5EF4-FFF2-40B4-BE49-F238E27FC236}">
                  <a16:creationId xmlns:a16="http://schemas.microsoft.com/office/drawing/2014/main" id="{533B7EC2-EA6E-020E-E906-8F0964160D14}"/>
                </a:ext>
              </a:extLst>
            </p:cNvPr>
            <p:cNvSpPr/>
            <p:nvPr/>
          </p:nvSpPr>
          <p:spPr>
            <a:xfrm>
              <a:off x="1518355" y="1530975"/>
              <a:ext cx="30100" cy="76475"/>
            </a:xfrm>
            <a:custGeom>
              <a:avLst/>
              <a:gdLst/>
              <a:ahLst/>
              <a:cxnLst/>
              <a:rect l="l" t="t" r="r" b="b"/>
              <a:pathLst>
                <a:path w="1204" h="3059" extrusionOk="0">
                  <a:moveTo>
                    <a:pt x="0" y="1"/>
                  </a:moveTo>
                  <a:lnTo>
                    <a:pt x="0" y="3058"/>
                  </a:lnTo>
                  <a:lnTo>
                    <a:pt x="1203" y="3058"/>
                  </a:lnTo>
                  <a:lnTo>
                    <a:pt x="12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7" name="Google Shape;2409;p35">
              <a:extLst>
                <a:ext uri="{FF2B5EF4-FFF2-40B4-BE49-F238E27FC236}">
                  <a16:creationId xmlns:a16="http://schemas.microsoft.com/office/drawing/2014/main" id="{71958C45-CF06-2B44-13B3-58E0346D759A}"/>
                </a:ext>
              </a:extLst>
            </p:cNvPr>
            <p:cNvSpPr/>
            <p:nvPr/>
          </p:nvSpPr>
          <p:spPr>
            <a:xfrm>
              <a:off x="1565330" y="1510300"/>
              <a:ext cx="30100" cy="97150"/>
            </a:xfrm>
            <a:custGeom>
              <a:avLst/>
              <a:gdLst/>
              <a:ahLst/>
              <a:cxnLst/>
              <a:rect l="l" t="t" r="r" b="b"/>
              <a:pathLst>
                <a:path w="1204" h="3886" extrusionOk="0">
                  <a:moveTo>
                    <a:pt x="1" y="1"/>
                  </a:moveTo>
                  <a:lnTo>
                    <a:pt x="1" y="3885"/>
                  </a:lnTo>
                  <a:lnTo>
                    <a:pt x="1204" y="3885"/>
                  </a:lnTo>
                  <a:lnTo>
                    <a:pt x="12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8" name="Google Shape;2410;p35">
              <a:extLst>
                <a:ext uri="{FF2B5EF4-FFF2-40B4-BE49-F238E27FC236}">
                  <a16:creationId xmlns:a16="http://schemas.microsoft.com/office/drawing/2014/main" id="{7DD335DF-E56E-5CCD-C07B-4DBE2005AFE0}"/>
                </a:ext>
              </a:extLst>
            </p:cNvPr>
            <p:cNvSpPr/>
            <p:nvPr/>
          </p:nvSpPr>
          <p:spPr>
            <a:xfrm>
              <a:off x="1612330" y="1489000"/>
              <a:ext cx="30100" cy="118450"/>
            </a:xfrm>
            <a:custGeom>
              <a:avLst/>
              <a:gdLst/>
              <a:ahLst/>
              <a:cxnLst/>
              <a:rect l="l" t="t" r="r" b="b"/>
              <a:pathLst>
                <a:path w="1204" h="4738" extrusionOk="0">
                  <a:moveTo>
                    <a:pt x="0" y="0"/>
                  </a:moveTo>
                  <a:lnTo>
                    <a:pt x="0" y="4737"/>
                  </a:lnTo>
                  <a:lnTo>
                    <a:pt x="1203" y="4737"/>
                  </a:lnTo>
                  <a:lnTo>
                    <a:pt x="120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09" name="Text 0">
            <a:extLst>
              <a:ext uri="{FF2B5EF4-FFF2-40B4-BE49-F238E27FC236}">
                <a16:creationId xmlns:a16="http://schemas.microsoft.com/office/drawing/2014/main" id="{AA600269-0804-1C8B-E4F1-7C89672FA4D5}"/>
              </a:ext>
            </a:extLst>
          </p:cNvPr>
          <p:cNvSpPr/>
          <p:nvPr/>
        </p:nvSpPr>
        <p:spPr>
          <a:xfrm>
            <a:off x="885104" y="483776"/>
            <a:ext cx="9982200" cy="640080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 algn="ctr">
              <a:spcBef>
                <a:spcPct val="0"/>
              </a:spcBef>
            </a:pPr>
            <a:r>
              <a:rPr lang="es-CO" sz="4000" b="1" dirty="0">
                <a:solidFill>
                  <a:srgbClr val="00B0F0"/>
                </a:solidFill>
                <a:latin typeface="Teko"/>
                <a:ea typeface="Open Sans"/>
                <a:cs typeface="Open Sans"/>
              </a:rPr>
              <a:t>Proceso de Modelado y Selección</a:t>
            </a:r>
          </a:p>
        </p:txBody>
      </p:sp>
    </p:spTree>
    <p:extLst>
      <p:ext uri="{BB962C8B-B14F-4D97-AF65-F5344CB8AC3E}">
        <p14:creationId xmlns:p14="http://schemas.microsoft.com/office/powerpoint/2010/main" val="1897925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</TotalTime>
  <Words>516</Words>
  <Application>Microsoft Office PowerPoint</Application>
  <PresentationFormat>Panorámica</PresentationFormat>
  <Paragraphs>72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Arial</vt:lpstr>
      <vt:lpstr>Fira Sans Extra Condensed Medium</vt:lpstr>
      <vt:lpstr>Roboto</vt:lpstr>
      <vt:lpstr>Teko</vt:lpstr>
      <vt:lpstr>Teko Light</vt:lpstr>
      <vt:lpstr>Verdana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Camilo Andres Torres Gutierrez</dc:creator>
  <cp:lastModifiedBy>Ximena Silva</cp:lastModifiedBy>
  <cp:revision>4</cp:revision>
  <dcterms:created xsi:type="dcterms:W3CDTF">2025-03-17T20:00:57Z</dcterms:created>
  <dcterms:modified xsi:type="dcterms:W3CDTF">2025-11-20T06:12:28Z</dcterms:modified>
</cp:coreProperties>
</file>